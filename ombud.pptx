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want to talk about a quiet kind of harm — the harm that happens when people meet institutions and cannot understand them. Hospitals, courthouses, the DMV, the housing authority. These are the places where rights live, and they are also the places where people get lost. What I'm going to show you today is a product — and an argument — called ombud. It's a digital bureaucratic advocate, and its job is to make institutions human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gap I want to start with. Bureaucracies were built to be fair — to treat every person the same. But treating everyone the same in a system nobody can read is not fairness. It's exclusion by paperwork. If you can decode the form, you get the benefit. If you can't, you don't. The system works best for the people who need it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that actually look like? It looks like showing up at the DMV and being sent home because you were missing one document. It looks like signing a consent form in a hospital you didn't understand. It looks like missing a court filing deadline because the instructions were written for lawyers. And it looks like renewing Medicaid — or not — because a letter arrived in English and your household reads Vietnamese. These are not edge cases. This is the median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ombud. It's a digital bureaucratic advocate. It sits between a person and an institution and does three things: it explains the process in plain language, it checks that your documentation is in order before you waste a trip, and it routes you through the system in real time. It isn't trying to replace the clerk, or the doctor, or the judge. It's trying to give every citizen the same quiet advantage that a well-connected family already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surface of the product is a companion we call an ombuddy. It's domain-specific — there's a DMV ombuddy, a hospital ombuddy, a court ombuddy — and each one knows its rules, its forms, its deadlines, and its failure modes. The ombuddy speaks the user's language, literally and otherwise. It is patient. It does not hurry you. It does not make you feel stupid for not knowing what an IEP is, or a 1040, or a 30-day notice to 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every ombuddy does the same four things. It explains — turning policy and jargon into plain language. It checks — auditing your documents and status before you submit. It routes — telling you which line, which office, which form, which deadline, in what order. And it logs — keeping a record of what was said and signed, so that nothing gets lost and nothing can be denied later. Explain, check, route, log. That is the whole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four domains to make this concrete. First, the DMV. The ombuddy greets you when you arrive, confirms you have the right documents for the right transaction, routes you to the correct window, and supports twenty-plus languages. The benefits the agency sees: fewer repeat visits, lower clerk workload, shorter lines, and — for the first time — real satisfaction metrics, because the ombuddy is a survey instrument that people actually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the hospital. This is the domain where misunderstanding is most dangerous. The patient ombuddy walks people through intake and consent, confirms comprehension in plain language before a signature, and stays with them through aftercare — what to take, when, and what to watch for. It reduces administrative delay, cuts down on the repetition nurses have to do, and produces a clean, auditable record of every consent. It keeps patients oriented and calm, which is itself a clinical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the courts. Most people who represent themselves in court lose — not because they're wrong, but because they miss a filing, a form, or a fee. The court ombuddy clarifies procedure, suggests the correct forms, tracks deadlines, and explains legal definitions in plain language. The benefit to the courthouse is less congestion and fewer procedural dismissals. The benefit to the citizen is access to justice that was nominally already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housing. Tenant law is one of the starkest examples of an information asymmetry: landlords have lawyers, tenants have Google. The housing ombuddy explains rights clearly, generates dispute letters, tracks deadlines, and connects users to legal aid when a case escalates. It isn't adversarial. It's a leveler — so that the process works the way the law says it's supposed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Those are four of the twenty-seven domains we've mapped. You're looking at them now. Every one of these is a place where a normal person meets an institution and needs a guide. Some are government. Some are private — insurance, pharmacy, HR. Some serve populations most systems forget: the homeless, the recently incarcerated, refugees, elders. The architecture is the same in all of them. Only the rules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is why we can build it once. Across every domain, the ombuddy provides the same core capabilities: plain-language explanation, multilingual support, document and deadline tracking, status updates, and a durable audit log. We ship a shared platform and a domain-specific rulepack. A new domain is a configuration problem, not an engineering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benefits from this? Three groups, and the alignment is unusually clean. Citizens get clarity, dignity, and outcomes they were already entitled to. Institutions get lower call volume, fewer repeat visits, shorter queues, and cleaner records — the staff gets their day back. And the public gets what a public is supposed to get from its institutions: the feeling that the system works, and works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principles we will not compromise on. Plain language is non-negotiable. The user's data belongs to the user. The ombuddy never hides the path to a human — a clerk, a lawyer, a nurse — it makes that path shorter. Every interaction is logged and exportable. And the system is accessible by default: voice, text, offline, low-literacy, twenty-plus languages. These are the things we will say no to feature requests to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go from here. We're piloting with three agencies this year — a municipal DMV, a county court, and a regional hospital system. From those pilots we'll harden the platform, publish the rulepacks as open standards, and onboard the next wave of domains. The long goal is boring and serious: make bureaucracy legible for everyone,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ask. We're looking for three things. Pilot partners — agencies and institutions willing to run a real deployment. Funding — to build out the platform and the first five rulepacks. And advocates — people inside institutions who believe that the point of a public service is to serve the public. If any of that is you, come find us after.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762000"/>
            <a:ext cx="7714699"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OMBUD</a:t>
            </a:r>
            <a:pPr algn="l" indent="0" marL="0">
              <a:buNone/>
            </a:pPr>
            <a:r>
              <a:rPr lang="en-US" sz="1800" spc="324" kern="0" dirty="0">
                <a:solidFill>
                  <a:srgbClr val="6A6656"/>
                </a:solidFill>
                <a:latin typeface="Courier New" pitchFamily="34" charset="0"/>
                <a:ea typeface="Courier New" pitchFamily="34" charset="-122"/>
                <a:cs typeface="Courier New" pitchFamily="34" charset="-120"/>
              </a:rPr>
              <a:t>//</a:t>
            </a:r>
            <a:pPr algn="l" indent="0" marL="0">
              <a:buNone/>
            </a:pPr>
            <a:r>
              <a:rPr lang="en-US" sz="1800" spc="324" kern="0" dirty="0">
                <a:solidFill>
                  <a:srgbClr val="E8B04B"/>
                </a:solidFill>
                <a:latin typeface="Courier New" pitchFamily="34" charset="0"/>
                <a:ea typeface="Courier New" pitchFamily="34" charset="-122"/>
                <a:cs typeface="Courier New" pitchFamily="34" charset="-120"/>
              </a:rPr>
              <a:t>A DIGITAL BUREAUCRATIC ADVOCATE</a:t>
            </a:r>
            <a:endParaRPr lang="en-US" sz="1800" dirty="0"/>
          </a:p>
        </p:txBody>
      </p:sp>
      <p:sp>
        <p:nvSpPr>
          <p:cNvPr id="3" name="Text 1"/>
          <p:cNvSpPr/>
          <p:nvPr/>
        </p:nvSpPr>
        <p:spPr>
          <a:xfrm>
            <a:off x="15552167" y="762000"/>
            <a:ext cx="1859533"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6A6656"/>
                </a:solidFill>
                <a:latin typeface="Courier New" pitchFamily="34" charset="0"/>
                <a:ea typeface="Courier New" pitchFamily="34" charset="-122"/>
                <a:cs typeface="Courier New" pitchFamily="34" charset="-120"/>
              </a:rPr>
              <a:t>APRIL 2026</a:t>
            </a:r>
            <a:endParaRPr lang="en-US" sz="1800" dirty="0"/>
          </a:p>
        </p:txBody>
      </p:sp>
      <p:sp>
        <p:nvSpPr>
          <p:cNvPr id="4" name="Text 2"/>
          <p:cNvSpPr/>
          <p:nvPr/>
        </p:nvSpPr>
        <p:spPr>
          <a:xfrm>
            <a:off x="952500" y="3181350"/>
            <a:ext cx="16874490" cy="2705100"/>
          </a:xfrm>
          <a:prstGeom prst="rect">
            <a:avLst/>
          </a:prstGeom>
          <a:noFill/>
          <a:ln/>
        </p:spPr>
        <p:txBody>
          <a:bodyPr wrap="square" lIns="25400" tIns="25400" rIns="25400" bIns="25400" rtlCol="0" anchor="t">
            <a:normAutofit/>
          </a:bodyPr>
          <a:lstStyle/>
          <a:p>
            <a:pPr algn="l" indent="0" marL="0">
              <a:lnSpc>
                <a:spcPct val="100000"/>
              </a:lnSpc>
              <a:buNone/>
            </a:pPr>
            <a:r>
              <a:rPr lang="en-US" sz="21000" spc="-840" kern="0" dirty="0">
                <a:solidFill>
                  <a:srgbClr val="E8E4D8"/>
                </a:solidFill>
                <a:latin typeface="Georgia" pitchFamily="34" charset="0"/>
                <a:ea typeface="Georgia" pitchFamily="34" charset="-122"/>
                <a:cs typeface="Georgia" pitchFamily="34" charset="-120"/>
              </a:rPr>
              <a:t>ombud</a:t>
            </a:r>
            <a:pPr algn="l" indent="0" marL="0">
              <a:lnSpc>
                <a:spcPct val="100000"/>
              </a:lnSpc>
              <a:buNone/>
            </a:pPr>
            <a:r>
              <a:rPr lang="en-US" sz="21000" spc="-840" kern="0" dirty="0">
                <a:solidFill>
                  <a:srgbClr val="E8B04B"/>
                </a:solidFill>
                <a:latin typeface="Georgia" pitchFamily="34" charset="0"/>
                <a:ea typeface="Georgia" pitchFamily="34" charset="-122"/>
                <a:cs typeface="Georgia" pitchFamily="34" charset="-120"/>
              </a:rPr>
              <a:t>.</a:t>
            </a:r>
            <a:endParaRPr lang="en-US" sz="21000" dirty="0"/>
          </a:p>
        </p:txBody>
      </p:sp>
      <p:sp>
        <p:nvSpPr>
          <p:cNvPr id="5" name="Text 3"/>
          <p:cNvSpPr/>
          <p:nvPr/>
        </p:nvSpPr>
        <p:spPr>
          <a:xfrm>
            <a:off x="952500" y="6534150"/>
            <a:ext cx="13735050" cy="609600"/>
          </a:xfrm>
          <a:prstGeom prst="rect">
            <a:avLst/>
          </a:prstGeom>
          <a:noFill/>
          <a:ln/>
        </p:spPr>
        <p:txBody>
          <a:bodyPr wrap="square" lIns="25400" tIns="25400" rIns="25400" bIns="25400" rtlCol="0" anchor="t">
            <a:normAutofit/>
          </a:bodyPr>
          <a:lstStyle/>
          <a:p>
            <a:pPr algn="l" indent="0" marL="0">
              <a:lnSpc>
                <a:spcPct val="125000"/>
              </a:lnSpc>
              <a:buNone/>
            </a:pPr>
            <a:r>
              <a:rPr lang="en-US" sz="3600" i="1" dirty="0">
                <a:solidFill>
                  <a:srgbClr val="A8A394"/>
                </a:solidFill>
                <a:latin typeface="Georgia" pitchFamily="34" charset="0"/>
                <a:ea typeface="Georgia" pitchFamily="34" charset="-122"/>
                <a:cs typeface="Georgia" pitchFamily="34" charset="-120"/>
              </a:rPr>
              <a:t>Every citizen deserves someone who reads the fine print for them.</a:t>
            </a:r>
            <a:endParaRPr lang="en-US" sz="3600" dirty="0"/>
          </a:p>
        </p:txBody>
      </p:sp>
      <p:sp>
        <p:nvSpPr>
          <p:cNvPr id="6" name="Text 4"/>
          <p:cNvSpPr/>
          <p:nvPr/>
        </p:nvSpPr>
        <p:spPr>
          <a:xfrm>
            <a:off x="952500" y="9267825"/>
            <a:ext cx="4224678"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6A6656"/>
                </a:solidFill>
                <a:latin typeface="Courier New" pitchFamily="34" charset="0"/>
                <a:ea typeface="Courier New" pitchFamily="34" charset="-122"/>
                <a:cs typeface="Courier New" pitchFamily="34" charset="-120"/>
              </a:rPr>
              <a:t>MIXED AUDIENCE BRIEFING</a:t>
            </a:r>
            <a:endParaRPr lang="en-US" sz="1800" dirty="0"/>
          </a:p>
        </p:txBody>
      </p:sp>
      <p:sp>
        <p:nvSpPr>
          <p:cNvPr id="7" name="Text 5"/>
          <p:cNvSpPr/>
          <p:nvPr/>
        </p:nvSpPr>
        <p:spPr>
          <a:xfrm>
            <a:off x="16087130" y="9267825"/>
            <a:ext cx="1324570"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6A6656"/>
                </a:solidFill>
                <a:latin typeface="Courier New" pitchFamily="34" charset="0"/>
                <a:ea typeface="Courier New" pitchFamily="34" charset="-122"/>
                <a:cs typeface="Courier New" pitchFamily="34" charset="-120"/>
              </a:rPr>
              <a:t>01 / 16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02 / 16</a:t>
            </a:r>
            <a:endParaRPr lang="en-US" sz="1800" dirty="0"/>
          </a:p>
        </p:txBody>
      </p:sp>
      <p:sp>
        <p:nvSpPr>
          <p:cNvPr id="4" name="Text 2"/>
          <p:cNvSpPr/>
          <p:nvPr/>
        </p:nvSpPr>
        <p:spPr>
          <a:xfrm>
            <a:off x="952500" y="1809750"/>
            <a:ext cx="16874490"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B04B"/>
                </a:solidFill>
                <a:latin typeface="Courier New" pitchFamily="34" charset="0"/>
                <a:ea typeface="Courier New" pitchFamily="34" charset="-122"/>
                <a:cs typeface="Courier New" pitchFamily="34" charset="-120"/>
              </a:rPr>
              <a:t>THE PROBLEM</a:t>
            </a:r>
            <a:endParaRPr lang="en-US" sz="1800" dirty="0"/>
          </a:p>
        </p:txBody>
      </p:sp>
      <p:sp>
        <p:nvSpPr>
          <p:cNvPr id="5" name="Text 3"/>
          <p:cNvSpPr/>
          <p:nvPr/>
        </p:nvSpPr>
        <p:spPr>
          <a:xfrm>
            <a:off x="952500" y="2333625"/>
            <a:ext cx="15697200" cy="3659088"/>
          </a:xfrm>
          <a:prstGeom prst="rect">
            <a:avLst/>
          </a:prstGeom>
          <a:noFill/>
          <a:ln/>
        </p:spPr>
        <p:txBody>
          <a:bodyPr wrap="square" lIns="25400" tIns="25400" rIns="25400" bIns="25400" rtlCol="0" anchor="t">
            <a:normAutofit/>
          </a:bodyPr>
          <a:lstStyle/>
          <a:p>
            <a:pPr algn="l" indent="0" marL="0">
              <a:lnSpc>
                <a:spcPct val="108000"/>
              </a:lnSpc>
              <a:buNone/>
            </a:pPr>
            <a:r>
              <a:rPr lang="en-US" sz="6600" spc="-66" kern="0" dirty="0">
                <a:solidFill>
                  <a:srgbClr val="E8E4D8"/>
                </a:solidFill>
                <a:latin typeface="Georgia" pitchFamily="34" charset="0"/>
                <a:ea typeface="Georgia" pitchFamily="34" charset="-122"/>
                <a:cs typeface="Georgia" pitchFamily="34" charset="-120"/>
              </a:rPr>
              <a:t>Bureaucracies were built to be fair. </a:t>
            </a:r>
            <a:pPr algn="l" indent="0" marL="0">
              <a:lnSpc>
                <a:spcPct val="108000"/>
              </a:lnSpc>
              <a:buNone/>
            </a:pPr>
            <a:r>
              <a:rPr lang="en-US" sz="6600" i="1" spc="-66" kern="0" dirty="0">
                <a:solidFill>
                  <a:srgbClr val="E8B04B"/>
                </a:solidFill>
                <a:latin typeface="Georgia" pitchFamily="34" charset="0"/>
                <a:ea typeface="Georgia" pitchFamily="34" charset="-122"/>
                <a:cs typeface="Georgia" pitchFamily="34" charset="-120"/>
              </a:rPr>
              <a:t>Treating everyone the same in a system no one can read </a:t>
            </a:r>
            <a:pPr algn="l" indent="0" marL="0">
              <a:lnSpc>
                <a:spcPct val="108000"/>
              </a:lnSpc>
              <a:buNone/>
            </a:pPr>
            <a:r>
              <a:rPr lang="en-US" sz="6600" spc="-66" kern="0" dirty="0">
                <a:solidFill>
                  <a:srgbClr val="E8E4D8"/>
                </a:solidFill>
                <a:latin typeface="Georgia" pitchFamily="34" charset="0"/>
                <a:ea typeface="Georgia" pitchFamily="34" charset="-122"/>
                <a:cs typeface="Georgia" pitchFamily="34" charset="-120"/>
              </a:rPr>
              <a:t>is not fairness — it is exclusion by paperwork.</a:t>
            </a:r>
            <a:endParaRPr lang="en-US" sz="6600" dirty="0"/>
          </a:p>
        </p:txBody>
      </p:sp>
      <p:sp>
        <p:nvSpPr>
          <p:cNvPr id="6" name="Text 4"/>
          <p:cNvSpPr/>
          <p:nvPr/>
        </p:nvSpPr>
        <p:spPr>
          <a:xfrm>
            <a:off x="952500" y="8561189"/>
            <a:ext cx="11772900" cy="811411"/>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A8A394"/>
                </a:solidFill>
                <a:latin typeface="-apple-system" pitchFamily="34" charset="0"/>
                <a:ea typeface="-apple-system" pitchFamily="34" charset="-122"/>
                <a:cs typeface="-apple-system" pitchFamily="34" charset="-120"/>
              </a:rPr>
              <a:t>If you can decode the form, you get the benefit. If you can't, you don't. The system works best for the people who need it least.</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03 / 16</a:t>
            </a:r>
            <a:endParaRPr lang="en-US" sz="1800" dirty="0"/>
          </a:p>
        </p:txBody>
      </p:sp>
      <p:sp>
        <p:nvSpPr>
          <p:cNvPr id="4" name="Text 2"/>
          <p:cNvSpPr/>
          <p:nvPr/>
        </p:nvSpPr>
        <p:spPr>
          <a:xfrm>
            <a:off x="952500" y="1809750"/>
            <a:ext cx="16874490"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B04B"/>
                </a:solidFill>
                <a:latin typeface="Courier New" pitchFamily="34" charset="0"/>
                <a:ea typeface="Courier New" pitchFamily="34" charset="-122"/>
                <a:cs typeface="Courier New" pitchFamily="34" charset="-120"/>
              </a:rPr>
              <a:t>FOUR SCENES, REPEATED DAILY</a:t>
            </a:r>
            <a:endParaRPr lang="en-US" sz="1800" dirty="0"/>
          </a:p>
        </p:txBody>
      </p:sp>
      <p:sp>
        <p:nvSpPr>
          <p:cNvPr id="5" name="Text 3"/>
          <p:cNvSpPr/>
          <p:nvPr/>
        </p:nvSpPr>
        <p:spPr>
          <a:xfrm>
            <a:off x="952500" y="2333625"/>
            <a:ext cx="16874490" cy="970731"/>
          </a:xfrm>
          <a:prstGeom prst="rect">
            <a:avLst/>
          </a:prstGeom>
          <a:noFill/>
          <a:ln/>
        </p:spPr>
        <p:txBody>
          <a:bodyPr wrap="square" lIns="25400" tIns="25400" rIns="25400" bIns="25400" rtlCol="0" anchor="t">
            <a:normAutofit/>
          </a:bodyPr>
          <a:lstStyle/>
          <a:p>
            <a:pPr algn="l" indent="0" marL="0">
              <a:lnSpc>
                <a:spcPct val="102000"/>
              </a:lnSpc>
              <a:buNone/>
            </a:pPr>
            <a:r>
              <a:rPr lang="en-US" sz="7200" spc="-86" kern="0" dirty="0">
                <a:solidFill>
                  <a:srgbClr val="E8E4D8"/>
                </a:solidFill>
                <a:latin typeface="Georgia" pitchFamily="34" charset="0"/>
                <a:ea typeface="Georgia" pitchFamily="34" charset="-122"/>
                <a:cs typeface="Georgia" pitchFamily="34" charset="-120"/>
              </a:rPr>
              <a:t>What goes wrong.</a:t>
            </a:r>
            <a:endParaRPr lang="en-US" sz="7200" dirty="0"/>
          </a:p>
        </p:txBody>
      </p:sp>
      <p:sp>
        <p:nvSpPr>
          <p:cNvPr id="6" name="Text 4"/>
          <p:cNvSpPr/>
          <p:nvPr/>
        </p:nvSpPr>
        <p:spPr>
          <a:xfrm>
            <a:off x="952500" y="3647256"/>
            <a:ext cx="7966329"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AT THE DMV</a:t>
            </a:r>
            <a:endParaRPr lang="en-US" sz="1800" dirty="0"/>
          </a:p>
        </p:txBody>
      </p:sp>
      <p:sp>
        <p:nvSpPr>
          <p:cNvPr id="7" name="Text 5"/>
          <p:cNvSpPr/>
          <p:nvPr/>
        </p:nvSpPr>
        <p:spPr>
          <a:xfrm>
            <a:off x="952500" y="4056831"/>
            <a:ext cx="7966329" cy="1354782"/>
          </a:xfrm>
          <a:prstGeom prst="rect">
            <a:avLst/>
          </a:prstGeom>
          <a:noFill/>
          <a:ln/>
        </p:spPr>
        <p:txBody>
          <a:bodyPr wrap="square" lIns="25400" tIns="25400" rIns="25400" bIns="25400" rtlCol="0" anchor="t">
            <a:normAutofit/>
          </a:bodyPr>
          <a:lstStyle/>
          <a:p>
            <a:pPr algn="l" indent="0" marL="0">
              <a:lnSpc>
                <a:spcPct val="128000"/>
              </a:lnSpc>
              <a:buNone/>
            </a:pPr>
            <a:r>
              <a:rPr lang="en-US" sz="2700" dirty="0">
                <a:solidFill>
                  <a:srgbClr val="E8E4D8"/>
                </a:solidFill>
                <a:latin typeface="Georgia" pitchFamily="34" charset="0"/>
                <a:ea typeface="Georgia" pitchFamily="34" charset="-122"/>
                <a:cs typeface="Georgia" pitchFamily="34" charset="-120"/>
              </a:rPr>
              <a:t>You are sent home. </a:t>
            </a:r>
            <a:pPr algn="l" indent="0" marL="0">
              <a:lnSpc>
                <a:spcPct val="128000"/>
              </a:lnSpc>
              <a:buNone/>
            </a:pPr>
            <a:r>
              <a:rPr lang="en-US" sz="2700" dirty="0">
                <a:solidFill>
                  <a:srgbClr val="A8A394"/>
                </a:solidFill>
                <a:latin typeface="Georgia" pitchFamily="34" charset="0"/>
                <a:ea typeface="Georgia" pitchFamily="34" charset="-122"/>
                <a:cs typeface="Georgia" pitchFamily="34" charset="-120"/>
              </a:rPr>
              <a:t>One document was missing, and no one told you that until you reached the counter.</a:t>
            </a:r>
            <a:endParaRPr lang="en-US" sz="2700" dirty="0"/>
          </a:p>
        </p:txBody>
      </p:sp>
      <p:sp>
        <p:nvSpPr>
          <p:cNvPr id="8" name="Text 6"/>
          <p:cNvSpPr/>
          <p:nvPr/>
        </p:nvSpPr>
        <p:spPr>
          <a:xfrm>
            <a:off x="9601200" y="3647256"/>
            <a:ext cx="7966329"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AT THE HOSPITAL</a:t>
            </a:r>
            <a:endParaRPr lang="en-US" sz="1800" dirty="0"/>
          </a:p>
        </p:txBody>
      </p:sp>
      <p:sp>
        <p:nvSpPr>
          <p:cNvPr id="9" name="Text 7"/>
          <p:cNvSpPr/>
          <p:nvPr/>
        </p:nvSpPr>
        <p:spPr>
          <a:xfrm>
            <a:off x="9601200" y="4056831"/>
            <a:ext cx="7966329" cy="1354782"/>
          </a:xfrm>
          <a:prstGeom prst="rect">
            <a:avLst/>
          </a:prstGeom>
          <a:noFill/>
          <a:ln/>
        </p:spPr>
        <p:txBody>
          <a:bodyPr wrap="square" lIns="25400" tIns="25400" rIns="25400" bIns="25400" rtlCol="0" anchor="t">
            <a:normAutofit/>
          </a:bodyPr>
          <a:lstStyle/>
          <a:p>
            <a:pPr algn="l" indent="0" marL="0">
              <a:lnSpc>
                <a:spcPct val="128000"/>
              </a:lnSpc>
              <a:buNone/>
            </a:pPr>
            <a:r>
              <a:rPr lang="en-US" sz="2700" dirty="0">
                <a:solidFill>
                  <a:srgbClr val="E8E4D8"/>
                </a:solidFill>
                <a:latin typeface="Georgia" pitchFamily="34" charset="0"/>
                <a:ea typeface="Georgia" pitchFamily="34" charset="-122"/>
                <a:cs typeface="Georgia" pitchFamily="34" charset="-120"/>
              </a:rPr>
              <a:t>You sign consent. </a:t>
            </a:r>
            <a:pPr algn="l" indent="0" marL="0">
              <a:lnSpc>
                <a:spcPct val="128000"/>
              </a:lnSpc>
              <a:buNone/>
            </a:pPr>
            <a:r>
              <a:rPr lang="en-US" sz="2700" dirty="0">
                <a:solidFill>
                  <a:srgbClr val="A8A394"/>
                </a:solidFill>
                <a:latin typeface="Georgia" pitchFamily="34" charset="0"/>
                <a:ea typeface="Georgia" pitchFamily="34" charset="-122"/>
                <a:cs typeface="Georgia" pitchFamily="34" charset="-120"/>
              </a:rPr>
              <a:t>You did not understand what you were consenting to, and no one was asked to check.</a:t>
            </a:r>
            <a:endParaRPr lang="en-US" sz="2700" dirty="0"/>
          </a:p>
        </p:txBody>
      </p:sp>
      <p:sp>
        <p:nvSpPr>
          <p:cNvPr id="10" name="Text 8"/>
          <p:cNvSpPr/>
          <p:nvPr/>
        </p:nvSpPr>
        <p:spPr>
          <a:xfrm>
            <a:off x="952500" y="5906914"/>
            <a:ext cx="7966329"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AT THE COURTHOUSE</a:t>
            </a:r>
            <a:endParaRPr lang="en-US" sz="1800" dirty="0"/>
          </a:p>
        </p:txBody>
      </p:sp>
      <p:sp>
        <p:nvSpPr>
          <p:cNvPr id="11" name="Text 9"/>
          <p:cNvSpPr/>
          <p:nvPr/>
        </p:nvSpPr>
        <p:spPr>
          <a:xfrm>
            <a:off x="952500" y="6316489"/>
            <a:ext cx="7966329" cy="915888"/>
          </a:xfrm>
          <a:prstGeom prst="rect">
            <a:avLst/>
          </a:prstGeom>
          <a:noFill/>
          <a:ln/>
        </p:spPr>
        <p:txBody>
          <a:bodyPr wrap="square" lIns="25400" tIns="25400" rIns="25400" bIns="25400" rtlCol="0" anchor="t">
            <a:normAutofit/>
          </a:bodyPr>
          <a:lstStyle/>
          <a:p>
            <a:pPr algn="l" indent="0" marL="0">
              <a:lnSpc>
                <a:spcPct val="128000"/>
              </a:lnSpc>
              <a:buNone/>
            </a:pPr>
            <a:r>
              <a:rPr lang="en-US" sz="2700" dirty="0">
                <a:solidFill>
                  <a:srgbClr val="E8E4D8"/>
                </a:solidFill>
                <a:latin typeface="Georgia" pitchFamily="34" charset="0"/>
                <a:ea typeface="Georgia" pitchFamily="34" charset="-122"/>
                <a:cs typeface="Georgia" pitchFamily="34" charset="-120"/>
              </a:rPr>
              <a:t>You miss a deadline. </a:t>
            </a:r>
            <a:pPr algn="l" indent="0" marL="0">
              <a:lnSpc>
                <a:spcPct val="128000"/>
              </a:lnSpc>
              <a:buNone/>
            </a:pPr>
            <a:r>
              <a:rPr lang="en-US" sz="2700" dirty="0">
                <a:solidFill>
                  <a:srgbClr val="A8A394"/>
                </a:solidFill>
                <a:latin typeface="Georgia" pitchFamily="34" charset="0"/>
                <a:ea typeface="Georgia" pitchFamily="34" charset="-122"/>
                <a:cs typeface="Georgia" pitchFamily="34" charset="-120"/>
              </a:rPr>
              <a:t>The instructions were written for lawyers, and you are not one.</a:t>
            </a:r>
            <a:endParaRPr lang="en-US" sz="2700" dirty="0"/>
          </a:p>
        </p:txBody>
      </p:sp>
      <p:sp>
        <p:nvSpPr>
          <p:cNvPr id="12" name="Text 10"/>
          <p:cNvSpPr/>
          <p:nvPr/>
        </p:nvSpPr>
        <p:spPr>
          <a:xfrm>
            <a:off x="9601200" y="5906914"/>
            <a:ext cx="7966329"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AT HOME, IN THE MAIL</a:t>
            </a:r>
            <a:endParaRPr lang="en-US" sz="1800" dirty="0"/>
          </a:p>
        </p:txBody>
      </p:sp>
      <p:sp>
        <p:nvSpPr>
          <p:cNvPr id="13" name="Text 11"/>
          <p:cNvSpPr/>
          <p:nvPr/>
        </p:nvSpPr>
        <p:spPr>
          <a:xfrm>
            <a:off x="9601200" y="6316489"/>
            <a:ext cx="7966329" cy="915888"/>
          </a:xfrm>
          <a:prstGeom prst="rect">
            <a:avLst/>
          </a:prstGeom>
          <a:noFill/>
          <a:ln/>
        </p:spPr>
        <p:txBody>
          <a:bodyPr wrap="square" lIns="25400" tIns="25400" rIns="25400" bIns="25400" rtlCol="0" anchor="t">
            <a:normAutofit/>
          </a:bodyPr>
          <a:lstStyle/>
          <a:p>
            <a:pPr algn="l" indent="0" marL="0">
              <a:lnSpc>
                <a:spcPct val="128000"/>
              </a:lnSpc>
              <a:buNone/>
            </a:pPr>
            <a:r>
              <a:rPr lang="en-US" sz="2700" dirty="0">
                <a:solidFill>
                  <a:srgbClr val="E8E4D8"/>
                </a:solidFill>
                <a:latin typeface="Georgia" pitchFamily="34" charset="0"/>
                <a:ea typeface="Georgia" pitchFamily="34" charset="-122"/>
                <a:cs typeface="Georgia" pitchFamily="34" charset="-120"/>
              </a:rPr>
              <a:t>Your Medicaid lapses. </a:t>
            </a:r>
            <a:pPr algn="l" indent="0" marL="0">
              <a:lnSpc>
                <a:spcPct val="128000"/>
              </a:lnSpc>
              <a:buNone/>
            </a:pPr>
            <a:r>
              <a:rPr lang="en-US" sz="2700" dirty="0">
                <a:solidFill>
                  <a:srgbClr val="A8A394"/>
                </a:solidFill>
                <a:latin typeface="Georgia" pitchFamily="34" charset="0"/>
                <a:ea typeface="Georgia" pitchFamily="34" charset="-122"/>
                <a:cs typeface="Georgia" pitchFamily="34" charset="-120"/>
              </a:rPr>
              <a:t>The renewal letter arrived in English. Your household reads Vietnamese.</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04 / 16</a:t>
            </a:r>
            <a:endParaRPr lang="en-US" sz="1800" dirty="0"/>
          </a:p>
        </p:txBody>
      </p:sp>
      <p:sp>
        <p:nvSpPr>
          <p:cNvPr id="4" name="Text 2"/>
          <p:cNvSpPr/>
          <p:nvPr/>
        </p:nvSpPr>
        <p:spPr>
          <a:xfrm>
            <a:off x="952500" y="1714500"/>
            <a:ext cx="16874490"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B04B"/>
                </a:solidFill>
                <a:latin typeface="Courier New" pitchFamily="34" charset="0"/>
                <a:ea typeface="Courier New" pitchFamily="34" charset="-122"/>
                <a:cs typeface="Courier New" pitchFamily="34" charset="-120"/>
              </a:rPr>
              <a:t>THE SOLUTION</a:t>
            </a:r>
            <a:endParaRPr lang="en-US" sz="1800" dirty="0"/>
          </a:p>
        </p:txBody>
      </p:sp>
      <p:sp>
        <p:nvSpPr>
          <p:cNvPr id="5" name="Text 3"/>
          <p:cNvSpPr/>
          <p:nvPr/>
        </p:nvSpPr>
        <p:spPr>
          <a:xfrm>
            <a:off x="952500" y="2238375"/>
            <a:ext cx="16874490" cy="1908125"/>
          </a:xfrm>
          <a:prstGeom prst="rect">
            <a:avLst/>
          </a:prstGeom>
          <a:noFill/>
          <a:ln/>
        </p:spPr>
        <p:txBody>
          <a:bodyPr wrap="square" lIns="25400" tIns="25400" rIns="25400" bIns="25400" rtlCol="0" anchor="t">
            <a:normAutofit/>
          </a:bodyPr>
          <a:lstStyle/>
          <a:p>
            <a:pPr algn="l" indent="0" marL="0">
              <a:lnSpc>
                <a:spcPct val="102000"/>
              </a:lnSpc>
              <a:buNone/>
            </a:pPr>
            <a:r>
              <a:rPr lang="en-US" sz="7200" spc="-86" kern="0" dirty="0">
                <a:solidFill>
                  <a:srgbClr val="E8E4D8"/>
                </a:solidFill>
                <a:latin typeface="Georgia" pitchFamily="34" charset="0"/>
                <a:ea typeface="Georgia" pitchFamily="34" charset="-122"/>
                <a:cs typeface="Georgia" pitchFamily="34" charset="-120"/>
              </a:rPr>
              <a:t>A digital bureaucratic advocate </a:t>
            </a:r>
            <a:pPr algn="l" indent="0" marL="0">
              <a:lnSpc>
                <a:spcPct val="102000"/>
              </a:lnSpc>
              <a:buNone/>
            </a:pPr>
            <a:r>
              <a:rPr lang="en-US" sz="7200" i="1" spc="-86" kern="0" dirty="0">
                <a:solidFill>
                  <a:srgbClr val="E8B04B"/>
                </a:solidFill>
                <a:latin typeface="Georgia" pitchFamily="34" charset="0"/>
                <a:ea typeface="Georgia" pitchFamily="34" charset="-122"/>
                <a:cs typeface="Georgia" pitchFamily="34" charset="-120"/>
              </a:rPr>
              <a:t>for everyone.</a:t>
            </a:r>
            <a:endParaRPr lang="en-US" sz="7200" dirty="0"/>
          </a:p>
        </p:txBody>
      </p:sp>
      <p:sp>
        <p:nvSpPr>
          <p:cNvPr id="6" name="Text 4"/>
          <p:cNvSpPr/>
          <p:nvPr/>
        </p:nvSpPr>
        <p:spPr>
          <a:xfrm>
            <a:off x="952500" y="4889450"/>
            <a:ext cx="8396162" cy="2855416"/>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E8E4D8"/>
                </a:solidFill>
                <a:latin typeface="-apple-system" pitchFamily="34" charset="0"/>
                <a:ea typeface="-apple-system" pitchFamily="34" charset="-122"/>
                <a:cs typeface="-apple-system" pitchFamily="34" charset="-120"/>
              </a:rPr>
              <a:t>ombud sits between a person and an institution. It explains in plain language, checks that your documents are in order, and routes you through the system in real time. It does not replace the clerk, the doctor, or the judge — it gives every citizen the quiet advantage that a well-connected family already has.</a:t>
            </a:r>
            <a:endParaRPr lang="en-US" sz="2550" dirty="0"/>
          </a:p>
        </p:txBody>
      </p:sp>
      <p:sp>
        <p:nvSpPr>
          <p:cNvPr id="7" name="Shape 5"/>
          <p:cNvSpPr/>
          <p:nvPr/>
        </p:nvSpPr>
        <p:spPr>
          <a:xfrm>
            <a:off x="10247114" y="4565600"/>
            <a:ext cx="7088312" cy="9525"/>
          </a:xfrm>
          <a:prstGeom prst="rect">
            <a:avLst/>
          </a:prstGeom>
          <a:solidFill>
            <a:srgbClr val="2A3344"/>
          </a:solidFill>
          <a:ln/>
        </p:spPr>
      </p:sp>
      <p:sp>
        <p:nvSpPr>
          <p:cNvPr id="8" name="Text 6"/>
          <p:cNvSpPr/>
          <p:nvPr/>
        </p:nvSpPr>
        <p:spPr>
          <a:xfrm>
            <a:off x="10247114" y="4932313"/>
            <a:ext cx="1790700"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E8B04B"/>
                </a:solidFill>
                <a:latin typeface="Courier New" pitchFamily="34" charset="0"/>
                <a:ea typeface="Courier New" pitchFamily="34" charset="-122"/>
                <a:cs typeface="Courier New" pitchFamily="34" charset="-120"/>
              </a:rPr>
              <a:t>EXPLAINS</a:t>
            </a:r>
            <a:endParaRPr lang="en-US" sz="1800" dirty="0"/>
          </a:p>
        </p:txBody>
      </p:sp>
      <p:sp>
        <p:nvSpPr>
          <p:cNvPr id="9" name="Text 7"/>
          <p:cNvSpPr/>
          <p:nvPr/>
        </p:nvSpPr>
        <p:spPr>
          <a:xfrm>
            <a:off x="12190214" y="4803725"/>
            <a:ext cx="5299568" cy="459060"/>
          </a:xfrm>
          <a:prstGeom prst="rect">
            <a:avLst/>
          </a:prstGeom>
          <a:noFill/>
          <a:ln/>
        </p:spPr>
        <p:txBody>
          <a:bodyPr wrap="square" lIns="25400" tIns="25400" rIns="25400" bIns="25400" rtlCol="0" anchor="t">
            <a:normAutofit/>
          </a:bodyPr>
          <a:lstStyle/>
          <a:p>
            <a:pPr algn="l" indent="0" marL="0">
              <a:lnSpc>
                <a:spcPct val="130000"/>
              </a:lnSpc>
              <a:buNone/>
            </a:pPr>
            <a:r>
              <a:rPr lang="en-US" sz="2550" dirty="0">
                <a:solidFill>
                  <a:srgbClr val="E8E4D8"/>
                </a:solidFill>
                <a:latin typeface="Georgia" pitchFamily="34" charset="0"/>
                <a:ea typeface="Georgia" pitchFamily="34" charset="-122"/>
                <a:cs typeface="Georgia" pitchFamily="34" charset="-120"/>
              </a:rPr>
              <a:t>Policy and jargon in plain language.</a:t>
            </a:r>
            <a:endParaRPr lang="en-US" sz="2550" dirty="0"/>
          </a:p>
        </p:txBody>
      </p:sp>
      <p:sp>
        <p:nvSpPr>
          <p:cNvPr id="10" name="Shape 8"/>
          <p:cNvSpPr/>
          <p:nvPr/>
        </p:nvSpPr>
        <p:spPr>
          <a:xfrm>
            <a:off x="10247114" y="5681886"/>
            <a:ext cx="7088312" cy="9525"/>
          </a:xfrm>
          <a:prstGeom prst="rect">
            <a:avLst/>
          </a:prstGeom>
          <a:solidFill>
            <a:srgbClr val="2A3344"/>
          </a:solidFill>
          <a:ln/>
        </p:spPr>
      </p:sp>
      <p:sp>
        <p:nvSpPr>
          <p:cNvPr id="11" name="Text 9"/>
          <p:cNvSpPr/>
          <p:nvPr/>
        </p:nvSpPr>
        <p:spPr>
          <a:xfrm>
            <a:off x="10247114" y="6048598"/>
            <a:ext cx="1790700"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E8B04B"/>
                </a:solidFill>
                <a:latin typeface="Courier New" pitchFamily="34" charset="0"/>
                <a:ea typeface="Courier New" pitchFamily="34" charset="-122"/>
                <a:cs typeface="Courier New" pitchFamily="34" charset="-120"/>
              </a:rPr>
              <a:t>CHECKS</a:t>
            </a:r>
            <a:endParaRPr lang="en-US" sz="1800" dirty="0"/>
          </a:p>
        </p:txBody>
      </p:sp>
      <p:sp>
        <p:nvSpPr>
          <p:cNvPr id="12" name="Text 10"/>
          <p:cNvSpPr/>
          <p:nvPr/>
        </p:nvSpPr>
        <p:spPr>
          <a:xfrm>
            <a:off x="12190214" y="5920011"/>
            <a:ext cx="5299568" cy="880021"/>
          </a:xfrm>
          <a:prstGeom prst="rect">
            <a:avLst/>
          </a:prstGeom>
          <a:noFill/>
          <a:ln/>
        </p:spPr>
        <p:txBody>
          <a:bodyPr wrap="square" lIns="25400" tIns="25400" rIns="25400" bIns="25400" rtlCol="0" anchor="t">
            <a:normAutofit/>
          </a:bodyPr>
          <a:lstStyle/>
          <a:p>
            <a:pPr algn="l" indent="0" marL="0">
              <a:lnSpc>
                <a:spcPct val="130000"/>
              </a:lnSpc>
              <a:buNone/>
            </a:pPr>
            <a:r>
              <a:rPr lang="en-US" sz="2550" dirty="0">
                <a:solidFill>
                  <a:srgbClr val="E8E4D8"/>
                </a:solidFill>
                <a:latin typeface="Georgia" pitchFamily="34" charset="0"/>
                <a:ea typeface="Georgia" pitchFamily="34" charset="-122"/>
                <a:cs typeface="Georgia" pitchFamily="34" charset="-120"/>
              </a:rPr>
              <a:t>Documents and eligibility before you submit.</a:t>
            </a:r>
            <a:endParaRPr lang="en-US" sz="2550" dirty="0"/>
          </a:p>
        </p:txBody>
      </p:sp>
      <p:sp>
        <p:nvSpPr>
          <p:cNvPr id="13" name="Shape 11"/>
          <p:cNvSpPr/>
          <p:nvPr/>
        </p:nvSpPr>
        <p:spPr>
          <a:xfrm>
            <a:off x="10247114" y="8527777"/>
            <a:ext cx="7088312" cy="9525"/>
          </a:xfrm>
          <a:prstGeom prst="rect">
            <a:avLst/>
          </a:prstGeom>
          <a:solidFill>
            <a:srgbClr val="2A3344"/>
          </a:solidFill>
          <a:ln/>
        </p:spPr>
      </p:sp>
      <p:sp>
        <p:nvSpPr>
          <p:cNvPr id="14" name="Shape 12"/>
          <p:cNvSpPr/>
          <p:nvPr/>
        </p:nvSpPr>
        <p:spPr>
          <a:xfrm>
            <a:off x="10247114" y="7219131"/>
            <a:ext cx="7088312" cy="9525"/>
          </a:xfrm>
          <a:prstGeom prst="rect">
            <a:avLst/>
          </a:prstGeom>
          <a:solidFill>
            <a:srgbClr val="2A3344"/>
          </a:solidFill>
          <a:ln/>
        </p:spPr>
      </p:sp>
      <p:sp>
        <p:nvSpPr>
          <p:cNvPr id="15" name="Text 13"/>
          <p:cNvSpPr/>
          <p:nvPr/>
        </p:nvSpPr>
        <p:spPr>
          <a:xfrm>
            <a:off x="10247114" y="7585844"/>
            <a:ext cx="1790700"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E8B04B"/>
                </a:solidFill>
                <a:latin typeface="Courier New" pitchFamily="34" charset="0"/>
                <a:ea typeface="Courier New" pitchFamily="34" charset="-122"/>
                <a:cs typeface="Courier New" pitchFamily="34" charset="-120"/>
              </a:rPr>
              <a:t>ROUTES</a:t>
            </a:r>
            <a:endParaRPr lang="en-US" sz="1800" dirty="0"/>
          </a:p>
        </p:txBody>
      </p:sp>
      <p:sp>
        <p:nvSpPr>
          <p:cNvPr id="16" name="Text 14"/>
          <p:cNvSpPr/>
          <p:nvPr/>
        </p:nvSpPr>
        <p:spPr>
          <a:xfrm>
            <a:off x="12190214" y="7457256"/>
            <a:ext cx="5299568" cy="880021"/>
          </a:xfrm>
          <a:prstGeom prst="rect">
            <a:avLst/>
          </a:prstGeom>
          <a:noFill/>
          <a:ln/>
        </p:spPr>
        <p:txBody>
          <a:bodyPr wrap="square" lIns="25400" tIns="25400" rIns="25400" bIns="25400" rtlCol="0" anchor="t">
            <a:normAutofit/>
          </a:bodyPr>
          <a:lstStyle/>
          <a:p>
            <a:pPr algn="l" indent="0" marL="0">
              <a:lnSpc>
                <a:spcPct val="130000"/>
              </a:lnSpc>
              <a:buNone/>
            </a:pPr>
            <a:r>
              <a:rPr lang="en-US" sz="2550" dirty="0">
                <a:solidFill>
                  <a:srgbClr val="E8E4D8"/>
                </a:solidFill>
                <a:latin typeface="Georgia" pitchFamily="34" charset="0"/>
                <a:ea typeface="Georgia" pitchFamily="34" charset="-122"/>
                <a:cs typeface="Georgia" pitchFamily="34" charset="-120"/>
              </a:rPr>
              <a:t>The right line, form, and deadline in order.</a:t>
            </a:r>
            <a:endParaRPr lang="en-US" sz="2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05 / 16</a:t>
            </a:r>
            <a:endParaRPr lang="en-US" sz="1800" dirty="0"/>
          </a:p>
        </p:txBody>
      </p:sp>
      <p:sp>
        <p:nvSpPr>
          <p:cNvPr id="4" name="Text 2"/>
          <p:cNvSpPr/>
          <p:nvPr/>
        </p:nvSpPr>
        <p:spPr>
          <a:xfrm>
            <a:off x="952500" y="1714500"/>
            <a:ext cx="16874490"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B04B"/>
                </a:solidFill>
                <a:latin typeface="Courier New" pitchFamily="34" charset="0"/>
                <a:ea typeface="Courier New" pitchFamily="34" charset="-122"/>
                <a:cs typeface="Courier New" pitchFamily="34" charset="-120"/>
              </a:rPr>
              <a:t>THE COMPANION</a:t>
            </a:r>
            <a:endParaRPr lang="en-US" sz="1800" dirty="0"/>
          </a:p>
        </p:txBody>
      </p:sp>
      <p:sp>
        <p:nvSpPr>
          <p:cNvPr id="5" name="Text 3"/>
          <p:cNvSpPr/>
          <p:nvPr/>
        </p:nvSpPr>
        <p:spPr>
          <a:xfrm>
            <a:off x="952500" y="2238375"/>
            <a:ext cx="16874490" cy="975494"/>
          </a:xfrm>
          <a:prstGeom prst="rect">
            <a:avLst/>
          </a:prstGeom>
          <a:noFill/>
          <a:ln/>
        </p:spPr>
        <p:txBody>
          <a:bodyPr wrap="square" lIns="25400" tIns="25400" rIns="25400" bIns="25400" rtlCol="0" anchor="t">
            <a:normAutofit/>
          </a:bodyPr>
          <a:lstStyle/>
          <a:p>
            <a:pPr algn="l" indent="0" marL="0">
              <a:lnSpc>
                <a:spcPct val="102000"/>
              </a:lnSpc>
              <a:buNone/>
            </a:pPr>
            <a:r>
              <a:rPr lang="en-US" sz="7200" spc="-86" kern="0" dirty="0">
                <a:solidFill>
                  <a:srgbClr val="E8E4D8"/>
                </a:solidFill>
                <a:latin typeface="Georgia" pitchFamily="34" charset="0"/>
                <a:ea typeface="Georgia" pitchFamily="34" charset="-122"/>
                <a:cs typeface="Georgia" pitchFamily="34" charset="-120"/>
              </a:rPr>
              <a:t>Meet your </a:t>
            </a:r>
            <a:pPr algn="l" indent="0" marL="0">
              <a:lnSpc>
                <a:spcPct val="102000"/>
              </a:lnSpc>
              <a:buNone/>
            </a:pPr>
            <a:r>
              <a:rPr lang="en-US" sz="7200" i="1" spc="-86" kern="0" dirty="0">
                <a:solidFill>
                  <a:srgbClr val="E8B04B"/>
                </a:solidFill>
                <a:latin typeface="Georgia" pitchFamily="34" charset="0"/>
                <a:ea typeface="Georgia" pitchFamily="34" charset="-122"/>
                <a:cs typeface="Georgia" pitchFamily="34" charset="-120"/>
              </a:rPr>
              <a:t>ombuddy.</a:t>
            </a:r>
            <a:endParaRPr lang="en-US" sz="7200" dirty="0"/>
          </a:p>
        </p:txBody>
      </p:sp>
      <p:sp>
        <p:nvSpPr>
          <p:cNvPr id="6" name="Text 4"/>
          <p:cNvSpPr/>
          <p:nvPr/>
        </p:nvSpPr>
        <p:spPr>
          <a:xfrm>
            <a:off x="952500" y="5241131"/>
            <a:ext cx="7966329" cy="2385864"/>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E8E4D8"/>
                </a:solidFill>
                <a:latin typeface="-apple-system" pitchFamily="34" charset="0"/>
                <a:ea typeface="-apple-system" pitchFamily="34" charset="-122"/>
                <a:cs typeface="-apple-system" pitchFamily="34" charset="-120"/>
              </a:rPr>
              <a:t>Every domain has its own ombuddy — domain-specific, rule-aware, patient. It knows the forms, the deadlines, and the failure modes. It speaks the user's language, literally and otherwise. It does not hurry you. It does not make you feel small for not knowing.</a:t>
            </a:r>
            <a:endParaRPr lang="en-US" sz="2550" dirty="0"/>
          </a:p>
        </p:txBody>
      </p:sp>
      <p:sp>
        <p:nvSpPr>
          <p:cNvPr id="7" name="Text 5"/>
          <p:cNvSpPr/>
          <p:nvPr/>
        </p:nvSpPr>
        <p:spPr>
          <a:xfrm>
            <a:off x="952500" y="7912745"/>
            <a:ext cx="7966329" cy="424755"/>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A8A394"/>
                </a:solidFill>
                <a:latin typeface="-apple-system" pitchFamily="34" charset="0"/>
                <a:ea typeface="-apple-system" pitchFamily="34" charset="-122"/>
                <a:cs typeface="-apple-system" pitchFamily="34" charset="-120"/>
              </a:rPr>
              <a:t>Available in 20+ languages, by voice or text, online or offline.</a:t>
            </a:r>
            <a:endParaRPr lang="en-US" sz="2100" dirty="0"/>
          </a:p>
        </p:txBody>
      </p:sp>
      <p:sp>
        <p:nvSpPr>
          <p:cNvPr id="8" name="Shape 6"/>
          <p:cNvSpPr/>
          <p:nvPr/>
        </p:nvSpPr>
        <p:spPr>
          <a:xfrm>
            <a:off x="9601200" y="3556769"/>
            <a:ext cx="7734300" cy="6369844"/>
          </a:xfrm>
          <a:prstGeom prst="rect">
            <a:avLst/>
          </a:prstGeom>
          <a:solidFill>
            <a:srgbClr val="121B28"/>
          </a:solidFill>
          <a:ln w="9525">
            <a:solidFill>
              <a:srgbClr val="2A3344"/>
            </a:solidFill>
            <a:prstDash val="solid"/>
          </a:ln>
        </p:spPr>
      </p:sp>
      <p:sp>
        <p:nvSpPr>
          <p:cNvPr id="9" name="Shape 7"/>
          <p:cNvSpPr/>
          <p:nvPr/>
        </p:nvSpPr>
        <p:spPr>
          <a:xfrm>
            <a:off x="9991725" y="4375919"/>
            <a:ext cx="6953250" cy="9525"/>
          </a:xfrm>
          <a:prstGeom prst="rect">
            <a:avLst/>
          </a:prstGeom>
          <a:solidFill>
            <a:srgbClr val="2A3344"/>
          </a:solidFill>
          <a:ln/>
        </p:spPr>
      </p:sp>
      <p:sp>
        <p:nvSpPr>
          <p:cNvPr id="10" name="Shape 8"/>
          <p:cNvSpPr/>
          <p:nvPr/>
        </p:nvSpPr>
        <p:spPr>
          <a:xfrm>
            <a:off x="9991725" y="4028256"/>
            <a:ext cx="95250" cy="95250"/>
          </a:xfrm>
          <a:prstGeom prst="ellipse">
            <a:avLst/>
          </a:prstGeom>
          <a:solidFill>
            <a:srgbClr val="E8B04B"/>
          </a:solidFill>
          <a:ln/>
        </p:spPr>
      </p:sp>
      <p:sp>
        <p:nvSpPr>
          <p:cNvPr id="11" name="Text 9"/>
          <p:cNvSpPr/>
          <p:nvPr/>
        </p:nvSpPr>
        <p:spPr>
          <a:xfrm>
            <a:off x="10220325" y="3947294"/>
            <a:ext cx="4295346" cy="295275"/>
          </a:xfrm>
          <a:prstGeom prst="rect">
            <a:avLst/>
          </a:prstGeom>
          <a:noFill/>
          <a:ln/>
        </p:spPr>
        <p:txBody>
          <a:bodyPr wrap="square" lIns="0" tIns="0" rIns="0" bIns="0" rtlCol="0" anchor="t">
            <a:normAutofit/>
          </a:bodyPr>
          <a:lstStyle/>
          <a:p>
            <a:pPr algn="l" indent="0" marL="0">
              <a:buNone/>
            </a:pPr>
            <a:r>
              <a:rPr lang="en-US" sz="1800" spc="288" kern="0" dirty="0">
                <a:solidFill>
                  <a:srgbClr val="6A6656"/>
                </a:solidFill>
                <a:latin typeface="Courier New" pitchFamily="34" charset="0"/>
                <a:ea typeface="Courier New" pitchFamily="34" charset="-122"/>
                <a:cs typeface="Courier New" pitchFamily="34" charset="-120"/>
              </a:rPr>
              <a:t>DMV OMBUDDY · EN ESPAÑOL</a:t>
            </a:r>
            <a:endParaRPr lang="en-US" sz="1800" dirty="0"/>
          </a:p>
        </p:txBody>
      </p:sp>
      <p:sp>
        <p:nvSpPr>
          <p:cNvPr id="12" name="Shape 10"/>
          <p:cNvSpPr/>
          <p:nvPr/>
        </p:nvSpPr>
        <p:spPr>
          <a:xfrm>
            <a:off x="11104736" y="4594994"/>
            <a:ext cx="5840239" cy="640035"/>
          </a:xfrm>
          <a:prstGeom prst="roundRect">
            <a:avLst>
              <a:gd name="adj" fmla="val 2976"/>
            </a:avLst>
          </a:prstGeom>
          <a:solidFill>
            <a:srgbClr val="182334"/>
          </a:solidFill>
          <a:ln/>
        </p:spPr>
      </p:sp>
      <p:sp>
        <p:nvSpPr>
          <p:cNvPr id="13" name="Shape 11"/>
          <p:cNvSpPr/>
          <p:nvPr/>
        </p:nvSpPr>
        <p:spPr>
          <a:xfrm>
            <a:off x="11104736" y="4594994"/>
            <a:ext cx="19050" cy="640035"/>
          </a:xfrm>
          <a:prstGeom prst="rect">
            <a:avLst/>
          </a:prstGeom>
          <a:solidFill>
            <a:srgbClr val="6A6656"/>
          </a:solidFill>
          <a:ln/>
        </p:spPr>
      </p:sp>
      <p:sp>
        <p:nvSpPr>
          <p:cNvPr id="14" name="Text 12"/>
          <p:cNvSpPr/>
          <p:nvPr/>
        </p:nvSpPr>
        <p:spPr>
          <a:xfrm>
            <a:off x="11314286" y="4728344"/>
            <a:ext cx="5615396"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rial" pitchFamily="34" charset="0"/>
                <a:ea typeface="Arial" pitchFamily="34" charset="-122"/>
                <a:cs typeface="Arial" pitchFamily="34" charset="-120"/>
              </a:rPr>
              <a:t>¿Necesito traer mi pasaporte para la Real ID?</a:t>
            </a:r>
            <a:endParaRPr lang="en-US" sz="2100" dirty="0"/>
          </a:p>
        </p:txBody>
      </p:sp>
      <p:sp>
        <p:nvSpPr>
          <p:cNvPr id="15" name="Text 13"/>
          <p:cNvSpPr/>
          <p:nvPr/>
        </p:nvSpPr>
        <p:spPr>
          <a:xfrm>
            <a:off x="9991725" y="5444579"/>
            <a:ext cx="615915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96" kern="0" dirty="0">
                <a:solidFill>
                  <a:srgbClr val="E8B04B"/>
                </a:solidFill>
                <a:latin typeface="Courier New" pitchFamily="34" charset="0"/>
                <a:ea typeface="Courier New" pitchFamily="34" charset="-122"/>
                <a:cs typeface="Courier New" pitchFamily="34" charset="-120"/>
              </a:rPr>
              <a:t>OMBUDDY</a:t>
            </a:r>
            <a:endParaRPr lang="en-US" sz="1800" dirty="0"/>
          </a:p>
        </p:txBody>
      </p:sp>
      <p:sp>
        <p:nvSpPr>
          <p:cNvPr id="16" name="Text 14"/>
          <p:cNvSpPr/>
          <p:nvPr/>
        </p:nvSpPr>
        <p:spPr>
          <a:xfrm>
            <a:off x="9991725" y="5840760"/>
            <a:ext cx="6013836" cy="1524819"/>
          </a:xfrm>
          <a:prstGeom prst="rect">
            <a:avLst/>
          </a:prstGeom>
          <a:noFill/>
          <a:ln/>
        </p:spPr>
        <p:txBody>
          <a:bodyPr wrap="square" lIns="0" tIns="0" rIns="0" bIns="0" rtlCol="0" anchor="t">
            <a:normAutofit/>
          </a:bodyPr>
          <a:lstStyle/>
          <a:p>
            <a:pPr algn="l" indent="0" marL="0">
              <a:lnSpc>
                <a:spcPct val="140000"/>
              </a:lnSpc>
              <a:buNone/>
            </a:pPr>
            <a:r>
              <a:rPr lang="en-US" sz="2100" dirty="0">
                <a:solidFill>
                  <a:srgbClr val="E8E4D8"/>
                </a:solidFill>
                <a:latin typeface="Georgia" pitchFamily="34" charset="0"/>
                <a:ea typeface="Georgia" pitchFamily="34" charset="-122"/>
                <a:cs typeface="Georgia" pitchFamily="34" charset="-120"/>
              </a:rPr>
              <a:t>Sí. Para la Real ID necesitas un pasaporte vigente, dos comprobantes de domicilio y tu tarjeta del Seguro Social. He revisado tu cita: falta el segundo comprobante. Te envío la lista ahora.</a:t>
            </a:r>
            <a:endParaRPr lang="en-US" sz="2100" dirty="0"/>
          </a:p>
        </p:txBody>
      </p:sp>
      <p:sp>
        <p:nvSpPr>
          <p:cNvPr id="17" name="Shape 15"/>
          <p:cNvSpPr/>
          <p:nvPr/>
        </p:nvSpPr>
        <p:spPr>
          <a:xfrm>
            <a:off x="13683704" y="7543651"/>
            <a:ext cx="3261271" cy="640035"/>
          </a:xfrm>
          <a:prstGeom prst="roundRect">
            <a:avLst>
              <a:gd name="adj" fmla="val 2976"/>
            </a:avLst>
          </a:prstGeom>
          <a:solidFill>
            <a:srgbClr val="182334"/>
          </a:solidFill>
          <a:ln/>
        </p:spPr>
      </p:sp>
      <p:sp>
        <p:nvSpPr>
          <p:cNvPr id="18" name="Shape 16"/>
          <p:cNvSpPr/>
          <p:nvPr/>
        </p:nvSpPr>
        <p:spPr>
          <a:xfrm>
            <a:off x="13683704" y="7543651"/>
            <a:ext cx="19050" cy="640035"/>
          </a:xfrm>
          <a:prstGeom prst="rect">
            <a:avLst/>
          </a:prstGeom>
          <a:solidFill>
            <a:srgbClr val="6A6656"/>
          </a:solidFill>
          <a:ln/>
        </p:spPr>
      </p:sp>
      <p:sp>
        <p:nvSpPr>
          <p:cNvPr id="19" name="Text 17"/>
          <p:cNvSpPr/>
          <p:nvPr/>
        </p:nvSpPr>
        <p:spPr>
          <a:xfrm>
            <a:off x="13893254" y="7677001"/>
            <a:ext cx="2959059"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rial" pitchFamily="34" charset="0"/>
                <a:ea typeface="Arial" pitchFamily="34" charset="-122"/>
                <a:cs typeface="Arial" pitchFamily="34" charset="-120"/>
              </a:rPr>
              <a:t>¿Cuánto voy a esperar?</a:t>
            </a:r>
            <a:endParaRPr lang="en-US" sz="2100" dirty="0"/>
          </a:p>
        </p:txBody>
      </p:sp>
      <p:sp>
        <p:nvSpPr>
          <p:cNvPr id="20" name="Text 18"/>
          <p:cNvSpPr/>
          <p:nvPr/>
        </p:nvSpPr>
        <p:spPr>
          <a:xfrm>
            <a:off x="9991725" y="8393237"/>
            <a:ext cx="615915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96" kern="0" dirty="0">
                <a:solidFill>
                  <a:srgbClr val="E8B04B"/>
                </a:solidFill>
                <a:latin typeface="Courier New" pitchFamily="34" charset="0"/>
                <a:ea typeface="Courier New" pitchFamily="34" charset="-122"/>
                <a:cs typeface="Courier New" pitchFamily="34" charset="-120"/>
              </a:rPr>
              <a:t>OMBUDDY</a:t>
            </a:r>
            <a:endParaRPr lang="en-US" sz="1800" dirty="0"/>
          </a:p>
        </p:txBody>
      </p:sp>
      <p:sp>
        <p:nvSpPr>
          <p:cNvPr id="21" name="Text 19"/>
          <p:cNvSpPr/>
          <p:nvPr/>
        </p:nvSpPr>
        <p:spPr>
          <a:xfrm>
            <a:off x="9991725" y="8789417"/>
            <a:ext cx="1940644" cy="404813"/>
          </a:xfrm>
          <a:prstGeom prst="rect">
            <a:avLst/>
          </a:prstGeom>
          <a:noFill/>
          <a:ln/>
        </p:spPr>
        <p:txBody>
          <a:bodyPr wrap="square" lIns="0" tIns="0" rIns="0" bIns="0" rtlCol="0" anchor="t">
            <a:normAutofit/>
          </a:bodyPr>
          <a:lstStyle/>
          <a:p>
            <a:pPr algn="l" indent="0" marL="0">
              <a:lnSpc>
                <a:spcPct val="140000"/>
              </a:lnSpc>
              <a:buNone/>
            </a:pPr>
            <a:r>
              <a:rPr lang="en-US" sz="2100" dirty="0">
                <a:solidFill>
                  <a:srgbClr val="E8E4D8"/>
                </a:solidFill>
                <a:latin typeface="Georgia" pitchFamily="34" charset="0"/>
                <a:ea typeface="Georgia" pitchFamily="34" charset="-122"/>
                <a:cs typeface="Georgia" pitchFamily="34" charset="-120"/>
              </a:rPr>
              <a:t>Tu número es el</a:t>
            </a:r>
            <a:endParaRPr lang="en-US" sz="2100" dirty="0"/>
          </a:p>
        </p:txBody>
      </p:sp>
      <p:sp>
        <p:nvSpPr>
          <p:cNvPr id="22" name="Text 20"/>
          <p:cNvSpPr/>
          <p:nvPr/>
        </p:nvSpPr>
        <p:spPr>
          <a:xfrm>
            <a:off x="11919049" y="8789417"/>
            <a:ext cx="603572" cy="404813"/>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E8B04B"/>
                </a:solidFill>
                <a:latin typeface="Georgia" pitchFamily="34" charset="0"/>
                <a:ea typeface="Georgia" pitchFamily="34" charset="-122"/>
                <a:cs typeface="Georgia" pitchFamily="34" charset="-120"/>
              </a:rPr>
              <a:t>B-47</a:t>
            </a:r>
            <a:endParaRPr lang="en-US" sz="2100" dirty="0"/>
          </a:p>
        </p:txBody>
      </p:sp>
      <p:sp>
        <p:nvSpPr>
          <p:cNvPr id="23" name="Text 21"/>
          <p:cNvSpPr/>
          <p:nvPr/>
        </p:nvSpPr>
        <p:spPr>
          <a:xfrm>
            <a:off x="9991725" y="8789417"/>
            <a:ext cx="6073161" cy="778148"/>
          </a:xfrm>
          <a:prstGeom prst="rect">
            <a:avLst/>
          </a:prstGeom>
          <a:noFill/>
          <a:ln/>
        </p:spPr>
        <p:txBody>
          <a:bodyPr wrap="square" lIns="0" tIns="0" rIns="0" bIns="0" rtlCol="0" anchor="t">
            <a:normAutofit/>
          </a:bodyPr>
          <a:lstStyle/>
          <a:p>
            <a:pPr algn="l" indent="0" marL="0">
              <a:lnSpc>
                <a:spcPct val="140000"/>
              </a:lnSpc>
              <a:buNone/>
            </a:pPr>
            <a:r>
              <a:rPr lang="en-US" sz="2100" dirty="0">
                <a:solidFill>
                  <a:srgbClr val="E8E4D8"/>
                </a:solidFill>
                <a:latin typeface="Georgia" pitchFamily="34" charset="0"/>
                <a:ea typeface="Georgia" pitchFamily="34" charset="-122"/>
                <a:cs typeface="Georgia" pitchFamily="34" charset="-120"/>
              </a:rPr>
              <a:t>. Quedan 12 personas antes — unos 28 minutos. Te aviso cuando falten cinco.</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06 / 16</a:t>
            </a:r>
            <a:endParaRPr lang="en-US" sz="1800" dirty="0"/>
          </a:p>
        </p:txBody>
      </p:sp>
      <p:sp>
        <p:nvSpPr>
          <p:cNvPr id="4" name="Text 2"/>
          <p:cNvSpPr/>
          <p:nvPr/>
        </p:nvSpPr>
        <p:spPr>
          <a:xfrm>
            <a:off x="952500" y="1714500"/>
            <a:ext cx="16874490"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B04B"/>
                </a:solidFill>
                <a:latin typeface="Courier New" pitchFamily="34" charset="0"/>
                <a:ea typeface="Courier New" pitchFamily="34" charset="-122"/>
                <a:cs typeface="Courier New" pitchFamily="34" charset="-120"/>
              </a:rPr>
              <a:t>THE ARCHITECTURE</a:t>
            </a:r>
            <a:endParaRPr lang="en-US" sz="1800" dirty="0"/>
          </a:p>
        </p:txBody>
      </p:sp>
      <p:sp>
        <p:nvSpPr>
          <p:cNvPr id="5" name="Text 3"/>
          <p:cNvSpPr/>
          <p:nvPr/>
        </p:nvSpPr>
        <p:spPr>
          <a:xfrm>
            <a:off x="952500" y="2238375"/>
            <a:ext cx="16874490" cy="975494"/>
          </a:xfrm>
          <a:prstGeom prst="rect">
            <a:avLst/>
          </a:prstGeom>
          <a:noFill/>
          <a:ln/>
        </p:spPr>
        <p:txBody>
          <a:bodyPr wrap="square" lIns="25400" tIns="25400" rIns="25400" bIns="25400" rtlCol="0" anchor="t">
            <a:normAutofit/>
          </a:bodyPr>
          <a:lstStyle/>
          <a:p>
            <a:pPr algn="l" indent="0" marL="0">
              <a:lnSpc>
                <a:spcPct val="102000"/>
              </a:lnSpc>
              <a:buNone/>
            </a:pPr>
            <a:r>
              <a:rPr lang="en-US" sz="7200" spc="-86" kern="0" dirty="0">
                <a:solidFill>
                  <a:srgbClr val="E8E4D8"/>
                </a:solidFill>
                <a:latin typeface="Georgia" pitchFamily="34" charset="0"/>
                <a:ea typeface="Georgia" pitchFamily="34" charset="-122"/>
                <a:cs typeface="Georgia" pitchFamily="34" charset="-120"/>
              </a:rPr>
              <a:t>Four verbs. </a:t>
            </a:r>
            <a:pPr algn="l" indent="0" marL="0">
              <a:lnSpc>
                <a:spcPct val="102000"/>
              </a:lnSpc>
              <a:buNone/>
            </a:pPr>
            <a:r>
              <a:rPr lang="en-US" sz="7200" i="1" spc="-86" kern="0" dirty="0">
                <a:solidFill>
                  <a:srgbClr val="E8B04B"/>
                </a:solidFill>
                <a:latin typeface="Georgia" pitchFamily="34" charset="0"/>
                <a:ea typeface="Georgia" pitchFamily="34" charset="-122"/>
                <a:cs typeface="Georgia" pitchFamily="34" charset="-120"/>
              </a:rPr>
              <a:t>That is the whole product.</a:t>
            </a:r>
            <a:endParaRPr lang="en-US" sz="7200" dirty="0"/>
          </a:p>
        </p:txBody>
      </p:sp>
      <p:sp>
        <p:nvSpPr>
          <p:cNvPr id="6" name="Shape 4"/>
          <p:cNvSpPr/>
          <p:nvPr/>
        </p:nvSpPr>
        <p:spPr>
          <a:xfrm>
            <a:off x="952500" y="3709169"/>
            <a:ext cx="3838575" cy="19050"/>
          </a:xfrm>
          <a:prstGeom prst="rect">
            <a:avLst/>
          </a:prstGeom>
          <a:solidFill>
            <a:srgbClr val="E8B04B"/>
          </a:solidFill>
          <a:ln/>
        </p:spPr>
      </p:sp>
      <p:sp>
        <p:nvSpPr>
          <p:cNvPr id="7" name="Text 5"/>
          <p:cNvSpPr/>
          <p:nvPr/>
        </p:nvSpPr>
        <p:spPr>
          <a:xfrm>
            <a:off x="952500" y="3994919"/>
            <a:ext cx="3953732"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6A6656"/>
                </a:solidFill>
                <a:latin typeface="Courier New" pitchFamily="34" charset="0"/>
                <a:ea typeface="Courier New" pitchFamily="34" charset="-122"/>
                <a:cs typeface="Courier New" pitchFamily="34" charset="-120"/>
              </a:rPr>
              <a:t>01</a:t>
            </a:r>
            <a:endParaRPr lang="en-US" sz="1800" dirty="0"/>
          </a:p>
        </p:txBody>
      </p:sp>
      <p:sp>
        <p:nvSpPr>
          <p:cNvPr id="8" name="Text 6"/>
          <p:cNvSpPr/>
          <p:nvPr/>
        </p:nvSpPr>
        <p:spPr>
          <a:xfrm>
            <a:off x="952500" y="4442594"/>
            <a:ext cx="3953732" cy="652463"/>
          </a:xfrm>
          <a:prstGeom prst="rect">
            <a:avLst/>
          </a:prstGeom>
          <a:noFill/>
          <a:ln/>
        </p:spPr>
        <p:txBody>
          <a:bodyPr wrap="square" lIns="25400" tIns="25400" rIns="25400" bIns="25400" rtlCol="0" anchor="t">
            <a:normAutofit/>
          </a:bodyPr>
          <a:lstStyle/>
          <a:p>
            <a:pPr algn="l" indent="0" marL="0">
              <a:lnSpc>
                <a:spcPct val="100000"/>
              </a:lnSpc>
              <a:buNone/>
            </a:pPr>
            <a:r>
              <a:rPr lang="en-US" sz="4800" i="1" dirty="0">
                <a:solidFill>
                  <a:srgbClr val="E8B04B"/>
                </a:solidFill>
                <a:latin typeface="Georgia" pitchFamily="34" charset="0"/>
                <a:ea typeface="Georgia" pitchFamily="34" charset="-122"/>
                <a:cs typeface="Georgia" pitchFamily="34" charset="-120"/>
              </a:rPr>
              <a:t>Explain</a:t>
            </a:r>
            <a:endParaRPr lang="en-US" sz="4800" dirty="0"/>
          </a:p>
        </p:txBody>
      </p:sp>
      <p:sp>
        <p:nvSpPr>
          <p:cNvPr id="9" name="Text 7"/>
          <p:cNvSpPr/>
          <p:nvPr/>
        </p:nvSpPr>
        <p:spPr>
          <a:xfrm>
            <a:off x="952500" y="5247456"/>
            <a:ext cx="3953732"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8A394"/>
                </a:solidFill>
                <a:latin typeface="-apple-system" pitchFamily="34" charset="0"/>
                <a:ea typeface="-apple-system" pitchFamily="34" charset="-122"/>
                <a:cs typeface="-apple-system" pitchFamily="34" charset="-120"/>
              </a:rPr>
              <a:t>Policy, jargon, and legal language rendered in plain, local speech.</a:t>
            </a:r>
            <a:endParaRPr lang="en-US" sz="1950" dirty="0"/>
          </a:p>
        </p:txBody>
      </p:sp>
      <p:sp>
        <p:nvSpPr>
          <p:cNvPr id="10" name="Shape 8"/>
          <p:cNvSpPr/>
          <p:nvPr/>
        </p:nvSpPr>
        <p:spPr>
          <a:xfrm>
            <a:off x="5133975" y="3709169"/>
            <a:ext cx="3838575" cy="19050"/>
          </a:xfrm>
          <a:prstGeom prst="rect">
            <a:avLst/>
          </a:prstGeom>
          <a:solidFill>
            <a:srgbClr val="E8B04B"/>
          </a:solidFill>
          <a:ln/>
        </p:spPr>
      </p:sp>
      <p:sp>
        <p:nvSpPr>
          <p:cNvPr id="11" name="Text 9"/>
          <p:cNvSpPr/>
          <p:nvPr/>
        </p:nvSpPr>
        <p:spPr>
          <a:xfrm>
            <a:off x="5133975" y="3994919"/>
            <a:ext cx="3953732"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6A6656"/>
                </a:solidFill>
                <a:latin typeface="Courier New" pitchFamily="34" charset="0"/>
                <a:ea typeface="Courier New" pitchFamily="34" charset="-122"/>
                <a:cs typeface="Courier New" pitchFamily="34" charset="-120"/>
              </a:rPr>
              <a:t>02</a:t>
            </a:r>
            <a:endParaRPr lang="en-US" sz="1800" dirty="0"/>
          </a:p>
        </p:txBody>
      </p:sp>
      <p:sp>
        <p:nvSpPr>
          <p:cNvPr id="12" name="Text 10"/>
          <p:cNvSpPr/>
          <p:nvPr/>
        </p:nvSpPr>
        <p:spPr>
          <a:xfrm>
            <a:off x="5133975" y="4442594"/>
            <a:ext cx="3953732" cy="652463"/>
          </a:xfrm>
          <a:prstGeom prst="rect">
            <a:avLst/>
          </a:prstGeom>
          <a:noFill/>
          <a:ln/>
        </p:spPr>
        <p:txBody>
          <a:bodyPr wrap="square" lIns="25400" tIns="25400" rIns="25400" bIns="25400" rtlCol="0" anchor="t">
            <a:normAutofit/>
          </a:bodyPr>
          <a:lstStyle/>
          <a:p>
            <a:pPr algn="l" indent="0" marL="0">
              <a:lnSpc>
                <a:spcPct val="100000"/>
              </a:lnSpc>
              <a:buNone/>
            </a:pPr>
            <a:r>
              <a:rPr lang="en-US" sz="4800" i="1" dirty="0">
                <a:solidFill>
                  <a:srgbClr val="E8B04B"/>
                </a:solidFill>
                <a:latin typeface="Georgia" pitchFamily="34" charset="0"/>
                <a:ea typeface="Georgia" pitchFamily="34" charset="-122"/>
                <a:cs typeface="Georgia" pitchFamily="34" charset="-120"/>
              </a:rPr>
              <a:t>Check</a:t>
            </a:r>
            <a:endParaRPr lang="en-US" sz="4800" dirty="0"/>
          </a:p>
        </p:txBody>
      </p:sp>
      <p:sp>
        <p:nvSpPr>
          <p:cNvPr id="13" name="Text 11"/>
          <p:cNvSpPr/>
          <p:nvPr/>
        </p:nvSpPr>
        <p:spPr>
          <a:xfrm>
            <a:off x="5133975" y="5247456"/>
            <a:ext cx="3953732"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8A394"/>
                </a:solidFill>
                <a:latin typeface="-apple-system" pitchFamily="34" charset="0"/>
                <a:ea typeface="-apple-system" pitchFamily="34" charset="-122"/>
                <a:cs typeface="-apple-system" pitchFamily="34" charset="-120"/>
              </a:rPr>
              <a:t>Documents, eligibility, and status audited before you waste the trip.</a:t>
            </a:r>
            <a:endParaRPr lang="en-US" sz="1950" dirty="0"/>
          </a:p>
        </p:txBody>
      </p:sp>
      <p:sp>
        <p:nvSpPr>
          <p:cNvPr id="14" name="Shape 12"/>
          <p:cNvSpPr/>
          <p:nvPr/>
        </p:nvSpPr>
        <p:spPr>
          <a:xfrm>
            <a:off x="9315450" y="3709169"/>
            <a:ext cx="3838575" cy="19050"/>
          </a:xfrm>
          <a:prstGeom prst="rect">
            <a:avLst/>
          </a:prstGeom>
          <a:solidFill>
            <a:srgbClr val="E8B04B"/>
          </a:solidFill>
          <a:ln/>
        </p:spPr>
      </p:sp>
      <p:sp>
        <p:nvSpPr>
          <p:cNvPr id="15" name="Text 13"/>
          <p:cNvSpPr/>
          <p:nvPr/>
        </p:nvSpPr>
        <p:spPr>
          <a:xfrm>
            <a:off x="9315450" y="3994919"/>
            <a:ext cx="3953732"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6A6656"/>
                </a:solidFill>
                <a:latin typeface="Courier New" pitchFamily="34" charset="0"/>
                <a:ea typeface="Courier New" pitchFamily="34" charset="-122"/>
                <a:cs typeface="Courier New" pitchFamily="34" charset="-120"/>
              </a:rPr>
              <a:t>03</a:t>
            </a:r>
            <a:endParaRPr lang="en-US" sz="1800" dirty="0"/>
          </a:p>
        </p:txBody>
      </p:sp>
      <p:sp>
        <p:nvSpPr>
          <p:cNvPr id="16" name="Text 14"/>
          <p:cNvSpPr/>
          <p:nvPr/>
        </p:nvSpPr>
        <p:spPr>
          <a:xfrm>
            <a:off x="9315450" y="4442594"/>
            <a:ext cx="3953732" cy="652463"/>
          </a:xfrm>
          <a:prstGeom prst="rect">
            <a:avLst/>
          </a:prstGeom>
          <a:noFill/>
          <a:ln/>
        </p:spPr>
        <p:txBody>
          <a:bodyPr wrap="square" lIns="25400" tIns="25400" rIns="25400" bIns="25400" rtlCol="0" anchor="t">
            <a:normAutofit/>
          </a:bodyPr>
          <a:lstStyle/>
          <a:p>
            <a:pPr algn="l" indent="0" marL="0">
              <a:lnSpc>
                <a:spcPct val="100000"/>
              </a:lnSpc>
              <a:buNone/>
            </a:pPr>
            <a:r>
              <a:rPr lang="en-US" sz="4800" i="1" dirty="0">
                <a:solidFill>
                  <a:srgbClr val="E8B04B"/>
                </a:solidFill>
                <a:latin typeface="Georgia" pitchFamily="34" charset="0"/>
                <a:ea typeface="Georgia" pitchFamily="34" charset="-122"/>
                <a:cs typeface="Georgia" pitchFamily="34" charset="-120"/>
              </a:rPr>
              <a:t>Route</a:t>
            </a:r>
            <a:endParaRPr lang="en-US" sz="4800" dirty="0"/>
          </a:p>
        </p:txBody>
      </p:sp>
      <p:sp>
        <p:nvSpPr>
          <p:cNvPr id="17" name="Text 15"/>
          <p:cNvSpPr/>
          <p:nvPr/>
        </p:nvSpPr>
        <p:spPr>
          <a:xfrm>
            <a:off x="9315450" y="5247456"/>
            <a:ext cx="3953732"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8A394"/>
                </a:solidFill>
                <a:latin typeface="-apple-system" pitchFamily="34" charset="0"/>
                <a:ea typeface="-apple-system" pitchFamily="34" charset="-122"/>
                <a:cs typeface="-apple-system" pitchFamily="34" charset="-120"/>
              </a:rPr>
              <a:t>Which window, which form, which deadline — in the correct order.</a:t>
            </a:r>
            <a:endParaRPr lang="en-US" sz="1950" dirty="0"/>
          </a:p>
        </p:txBody>
      </p:sp>
      <p:sp>
        <p:nvSpPr>
          <p:cNvPr id="18" name="Shape 16"/>
          <p:cNvSpPr/>
          <p:nvPr/>
        </p:nvSpPr>
        <p:spPr>
          <a:xfrm>
            <a:off x="13496925" y="3709169"/>
            <a:ext cx="3838575" cy="19050"/>
          </a:xfrm>
          <a:prstGeom prst="rect">
            <a:avLst/>
          </a:prstGeom>
          <a:solidFill>
            <a:srgbClr val="E8B04B"/>
          </a:solidFill>
          <a:ln/>
        </p:spPr>
      </p:sp>
      <p:sp>
        <p:nvSpPr>
          <p:cNvPr id="19" name="Text 17"/>
          <p:cNvSpPr/>
          <p:nvPr/>
        </p:nvSpPr>
        <p:spPr>
          <a:xfrm>
            <a:off x="13496925" y="3994919"/>
            <a:ext cx="3953732"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6A6656"/>
                </a:solidFill>
                <a:latin typeface="Courier New" pitchFamily="34" charset="0"/>
                <a:ea typeface="Courier New" pitchFamily="34" charset="-122"/>
                <a:cs typeface="Courier New" pitchFamily="34" charset="-120"/>
              </a:rPr>
              <a:t>04</a:t>
            </a:r>
            <a:endParaRPr lang="en-US" sz="1800" dirty="0"/>
          </a:p>
        </p:txBody>
      </p:sp>
      <p:sp>
        <p:nvSpPr>
          <p:cNvPr id="20" name="Text 18"/>
          <p:cNvSpPr/>
          <p:nvPr/>
        </p:nvSpPr>
        <p:spPr>
          <a:xfrm>
            <a:off x="13496925" y="4442594"/>
            <a:ext cx="3953732" cy="652463"/>
          </a:xfrm>
          <a:prstGeom prst="rect">
            <a:avLst/>
          </a:prstGeom>
          <a:noFill/>
          <a:ln/>
        </p:spPr>
        <p:txBody>
          <a:bodyPr wrap="square" lIns="25400" tIns="25400" rIns="25400" bIns="25400" rtlCol="0" anchor="t">
            <a:normAutofit/>
          </a:bodyPr>
          <a:lstStyle/>
          <a:p>
            <a:pPr algn="l" indent="0" marL="0">
              <a:lnSpc>
                <a:spcPct val="100000"/>
              </a:lnSpc>
              <a:buNone/>
            </a:pPr>
            <a:r>
              <a:rPr lang="en-US" sz="4800" i="1" dirty="0">
                <a:solidFill>
                  <a:srgbClr val="E8B04B"/>
                </a:solidFill>
                <a:latin typeface="Georgia" pitchFamily="34" charset="0"/>
                <a:ea typeface="Georgia" pitchFamily="34" charset="-122"/>
                <a:cs typeface="Georgia" pitchFamily="34" charset="-120"/>
              </a:rPr>
              <a:t>Log</a:t>
            </a:r>
            <a:endParaRPr lang="en-US" sz="4800" dirty="0"/>
          </a:p>
        </p:txBody>
      </p:sp>
      <p:sp>
        <p:nvSpPr>
          <p:cNvPr id="21" name="Text 19"/>
          <p:cNvSpPr/>
          <p:nvPr/>
        </p:nvSpPr>
        <p:spPr>
          <a:xfrm>
            <a:off x="13496925" y="5247456"/>
            <a:ext cx="3953732" cy="107818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8A394"/>
                </a:solidFill>
                <a:latin typeface="-apple-system" pitchFamily="34" charset="0"/>
                <a:ea typeface="-apple-system" pitchFamily="34" charset="-122"/>
                <a:cs typeface="-apple-system" pitchFamily="34" charset="-120"/>
              </a:rPr>
              <a:t>Every interaction recorded, exportable, auditable. Nothing gets lost.</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07 / 16</a:t>
            </a:r>
            <a:endParaRPr lang="en-US" sz="1800" dirty="0"/>
          </a:p>
        </p:txBody>
      </p:sp>
      <p:sp>
        <p:nvSpPr>
          <p:cNvPr id="4" name="Text 2"/>
          <p:cNvSpPr/>
          <p:nvPr/>
        </p:nvSpPr>
        <p:spPr>
          <a:xfrm>
            <a:off x="952500" y="2324100"/>
            <a:ext cx="784860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E8B04B"/>
                </a:solidFill>
                <a:latin typeface="Courier New" pitchFamily="34" charset="0"/>
                <a:ea typeface="Courier New" pitchFamily="34" charset="-122"/>
                <a:cs typeface="Courier New" pitchFamily="34" charset="-120"/>
              </a:rPr>
              <a:t>SPOTLIGHT · 01 / 04</a:t>
            </a:r>
            <a:endParaRPr lang="en-US" sz="1800" dirty="0"/>
          </a:p>
        </p:txBody>
      </p:sp>
      <p:sp>
        <p:nvSpPr>
          <p:cNvPr id="5" name="Text 3"/>
          <p:cNvSpPr/>
          <p:nvPr/>
        </p:nvSpPr>
        <p:spPr>
          <a:xfrm>
            <a:off x="952500" y="3152775"/>
            <a:ext cx="7848600" cy="2133749"/>
          </a:xfrm>
          <a:prstGeom prst="rect">
            <a:avLst/>
          </a:prstGeom>
          <a:noFill/>
          <a:ln/>
        </p:spPr>
        <p:txBody>
          <a:bodyPr wrap="square" lIns="25400" tIns="25400" rIns="25400" bIns="25400" rtlCol="0" anchor="t">
            <a:normAutofit/>
          </a:bodyPr>
          <a:lstStyle/>
          <a:p>
            <a:pPr algn="l" indent="0" marL="0">
              <a:lnSpc>
                <a:spcPct val="98000"/>
              </a:lnSpc>
              <a:buNone/>
            </a:pPr>
            <a:r>
              <a:rPr lang="en-US" sz="8400" i="1" spc="-126" kern="0" dirty="0">
                <a:solidFill>
                  <a:srgbClr val="E8B04B"/>
                </a:solidFill>
                <a:latin typeface="Georgia" pitchFamily="34" charset="0"/>
                <a:ea typeface="Georgia" pitchFamily="34" charset="-122"/>
                <a:cs typeface="Georgia" pitchFamily="34" charset="-120"/>
              </a:rPr>
              <a:t>DMV </a:t>
            </a:r>
            <a:pPr algn="l" indent="0" marL="0">
              <a:lnSpc>
                <a:spcPct val="98000"/>
              </a:lnSpc>
              <a:buNone/>
            </a:pPr>
            <a:r>
              <a:rPr lang="en-US" sz="8400" spc="-126" kern="0" dirty="0">
                <a:solidFill>
                  <a:srgbClr val="E8E4D8"/>
                </a:solidFill>
                <a:latin typeface="Georgia" pitchFamily="34" charset="0"/>
                <a:ea typeface="Georgia" pitchFamily="34" charset="-122"/>
                <a:cs typeface="Georgia" pitchFamily="34" charset="-120"/>
              </a:rPr>
              <a:t>&amp; Transportation.</a:t>
            </a:r>
            <a:endParaRPr lang="en-US" sz="8400" dirty="0"/>
          </a:p>
        </p:txBody>
      </p:sp>
      <p:sp>
        <p:nvSpPr>
          <p:cNvPr id="6" name="Text 4"/>
          <p:cNvSpPr/>
          <p:nvPr/>
        </p:nvSpPr>
        <p:spPr>
          <a:xfrm>
            <a:off x="952500" y="5591324"/>
            <a:ext cx="7063740" cy="929580"/>
          </a:xfrm>
          <a:prstGeom prst="rect">
            <a:avLst/>
          </a:prstGeom>
          <a:noFill/>
          <a:ln/>
        </p:spPr>
        <p:txBody>
          <a:bodyPr wrap="square" lIns="25400" tIns="25400" rIns="25400" bIns="25400" rtlCol="0" anchor="t">
            <a:normAutofit/>
          </a:bodyPr>
          <a:lstStyle/>
          <a:p>
            <a:pPr algn="l" indent="0" marL="0">
              <a:lnSpc>
                <a:spcPct val="130000"/>
              </a:lnSpc>
              <a:buNone/>
            </a:pPr>
            <a:r>
              <a:rPr lang="en-US" sz="2700" dirty="0">
                <a:solidFill>
                  <a:srgbClr val="A8A394"/>
                </a:solidFill>
                <a:latin typeface="Georgia" pitchFamily="34" charset="0"/>
                <a:ea typeface="Georgia" pitchFamily="34" charset="-122"/>
                <a:cs typeface="Georgia" pitchFamily="34" charset="-120"/>
              </a:rPr>
              <a:t>Guides visitors through registration, licensing, and ID — so the line only happens once.</a:t>
            </a:r>
            <a:endParaRPr lang="en-US" sz="2700" dirty="0"/>
          </a:p>
        </p:txBody>
      </p:sp>
      <p:sp>
        <p:nvSpPr>
          <p:cNvPr id="7" name="Text 5"/>
          <p:cNvSpPr/>
          <p:nvPr/>
        </p:nvSpPr>
        <p:spPr>
          <a:xfrm>
            <a:off x="9715500" y="2171700"/>
            <a:ext cx="784860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WHAT CHANGES</a:t>
            </a:r>
            <a:endParaRPr lang="en-US" sz="1800" dirty="0"/>
          </a:p>
        </p:txBody>
      </p:sp>
      <p:sp>
        <p:nvSpPr>
          <p:cNvPr id="8" name="Shape 6"/>
          <p:cNvSpPr/>
          <p:nvPr/>
        </p:nvSpPr>
        <p:spPr>
          <a:xfrm>
            <a:off x="9715500" y="2733675"/>
            <a:ext cx="7620000" cy="9525"/>
          </a:xfrm>
          <a:prstGeom prst="rect">
            <a:avLst/>
          </a:prstGeom>
          <a:solidFill>
            <a:srgbClr val="2A3344"/>
          </a:solidFill>
          <a:ln/>
        </p:spPr>
      </p:sp>
      <p:sp>
        <p:nvSpPr>
          <p:cNvPr id="9" name="Text 7"/>
          <p:cNvSpPr/>
          <p:nvPr/>
        </p:nvSpPr>
        <p:spPr>
          <a:xfrm>
            <a:off x="9715500" y="3038475"/>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01</a:t>
            </a:r>
            <a:endParaRPr lang="en-US" sz="1800" dirty="0"/>
          </a:p>
        </p:txBody>
      </p:sp>
      <p:sp>
        <p:nvSpPr>
          <p:cNvPr id="10" name="Text 8"/>
          <p:cNvSpPr/>
          <p:nvPr/>
        </p:nvSpPr>
        <p:spPr>
          <a:xfrm>
            <a:off x="10287000" y="2952750"/>
            <a:ext cx="7259955"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Missing documents caught before you leave the house.</a:t>
            </a:r>
            <a:endParaRPr lang="en-US" sz="2100" dirty="0"/>
          </a:p>
        </p:txBody>
      </p:sp>
      <p:sp>
        <p:nvSpPr>
          <p:cNvPr id="11" name="Shape 9"/>
          <p:cNvSpPr/>
          <p:nvPr/>
        </p:nvSpPr>
        <p:spPr>
          <a:xfrm>
            <a:off x="9715500" y="3535635"/>
            <a:ext cx="7620000" cy="9525"/>
          </a:xfrm>
          <a:prstGeom prst="rect">
            <a:avLst/>
          </a:prstGeom>
          <a:solidFill>
            <a:srgbClr val="2A3344"/>
          </a:solidFill>
          <a:ln/>
        </p:spPr>
      </p:sp>
      <p:sp>
        <p:nvSpPr>
          <p:cNvPr id="12" name="Text 10"/>
          <p:cNvSpPr/>
          <p:nvPr/>
        </p:nvSpPr>
        <p:spPr>
          <a:xfrm>
            <a:off x="9715500" y="3840435"/>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02</a:t>
            </a:r>
            <a:endParaRPr lang="en-US" sz="1800" dirty="0"/>
          </a:p>
        </p:txBody>
      </p:sp>
      <p:sp>
        <p:nvSpPr>
          <p:cNvPr id="13" name="Text 11"/>
          <p:cNvSpPr/>
          <p:nvPr/>
        </p:nvSpPr>
        <p:spPr>
          <a:xfrm>
            <a:off x="10287000" y="3754710"/>
            <a:ext cx="7259955"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Real-time routing — the right counter, the right order.</a:t>
            </a:r>
            <a:endParaRPr lang="en-US" sz="2100" dirty="0"/>
          </a:p>
        </p:txBody>
      </p:sp>
      <p:sp>
        <p:nvSpPr>
          <p:cNvPr id="14" name="Shape 12"/>
          <p:cNvSpPr/>
          <p:nvPr/>
        </p:nvSpPr>
        <p:spPr>
          <a:xfrm>
            <a:off x="9715500" y="4337596"/>
            <a:ext cx="7620000" cy="9525"/>
          </a:xfrm>
          <a:prstGeom prst="rect">
            <a:avLst/>
          </a:prstGeom>
          <a:solidFill>
            <a:srgbClr val="2A3344"/>
          </a:solidFill>
          <a:ln/>
        </p:spPr>
      </p:sp>
      <p:sp>
        <p:nvSpPr>
          <p:cNvPr id="15" name="Text 13"/>
          <p:cNvSpPr/>
          <p:nvPr/>
        </p:nvSpPr>
        <p:spPr>
          <a:xfrm>
            <a:off x="9715500" y="4642396"/>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03</a:t>
            </a:r>
            <a:endParaRPr lang="en-US" sz="1800" dirty="0"/>
          </a:p>
        </p:txBody>
      </p:sp>
      <p:sp>
        <p:nvSpPr>
          <p:cNvPr id="16" name="Text 14"/>
          <p:cNvSpPr/>
          <p:nvPr/>
        </p:nvSpPr>
        <p:spPr>
          <a:xfrm>
            <a:off x="10287000" y="4556671"/>
            <a:ext cx="7259955"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Multilingual support, so language is not a filter.</a:t>
            </a:r>
            <a:endParaRPr lang="en-US" sz="2100" dirty="0"/>
          </a:p>
        </p:txBody>
      </p:sp>
      <p:sp>
        <p:nvSpPr>
          <p:cNvPr id="17" name="Shape 15"/>
          <p:cNvSpPr/>
          <p:nvPr/>
        </p:nvSpPr>
        <p:spPr>
          <a:xfrm>
            <a:off x="9715500" y="6314852"/>
            <a:ext cx="7620000" cy="9525"/>
          </a:xfrm>
          <a:prstGeom prst="rect">
            <a:avLst/>
          </a:prstGeom>
          <a:solidFill>
            <a:srgbClr val="2A3344"/>
          </a:solidFill>
          <a:ln/>
        </p:spPr>
      </p:sp>
      <p:sp>
        <p:nvSpPr>
          <p:cNvPr id="18" name="Shape 16"/>
          <p:cNvSpPr/>
          <p:nvPr/>
        </p:nvSpPr>
        <p:spPr>
          <a:xfrm>
            <a:off x="9715500" y="5139556"/>
            <a:ext cx="7620000" cy="9525"/>
          </a:xfrm>
          <a:prstGeom prst="rect">
            <a:avLst/>
          </a:prstGeom>
          <a:solidFill>
            <a:srgbClr val="2A3344"/>
          </a:solidFill>
          <a:ln/>
        </p:spPr>
      </p:sp>
      <p:sp>
        <p:nvSpPr>
          <p:cNvPr id="19" name="Text 17"/>
          <p:cNvSpPr/>
          <p:nvPr/>
        </p:nvSpPr>
        <p:spPr>
          <a:xfrm>
            <a:off x="9715500" y="5444356"/>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04</a:t>
            </a:r>
            <a:endParaRPr lang="en-US" sz="1800" dirty="0"/>
          </a:p>
        </p:txBody>
      </p:sp>
      <p:sp>
        <p:nvSpPr>
          <p:cNvPr id="20" name="Text 18"/>
          <p:cNvSpPr/>
          <p:nvPr/>
        </p:nvSpPr>
        <p:spPr>
          <a:xfrm>
            <a:off x="10287000" y="5358631"/>
            <a:ext cx="7259955" cy="78477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Clerks do less translation; satisfaction metrics get measured.</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08 / 16</a:t>
            </a:r>
            <a:endParaRPr lang="en-US" sz="1800" dirty="0"/>
          </a:p>
        </p:txBody>
      </p:sp>
      <p:sp>
        <p:nvSpPr>
          <p:cNvPr id="4" name="Text 2"/>
          <p:cNvSpPr/>
          <p:nvPr/>
        </p:nvSpPr>
        <p:spPr>
          <a:xfrm>
            <a:off x="952500" y="2324100"/>
            <a:ext cx="784860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E8B04B"/>
                </a:solidFill>
                <a:latin typeface="Courier New" pitchFamily="34" charset="0"/>
                <a:ea typeface="Courier New" pitchFamily="34" charset="-122"/>
                <a:cs typeface="Courier New" pitchFamily="34" charset="-120"/>
              </a:rPr>
              <a:t>SPOTLIGHT · 02 / 04</a:t>
            </a:r>
            <a:endParaRPr lang="en-US" sz="1800" dirty="0"/>
          </a:p>
        </p:txBody>
      </p:sp>
      <p:sp>
        <p:nvSpPr>
          <p:cNvPr id="5" name="Text 3"/>
          <p:cNvSpPr/>
          <p:nvPr/>
        </p:nvSpPr>
        <p:spPr>
          <a:xfrm>
            <a:off x="952500" y="3152775"/>
            <a:ext cx="7848600" cy="2133749"/>
          </a:xfrm>
          <a:prstGeom prst="rect">
            <a:avLst/>
          </a:prstGeom>
          <a:noFill/>
          <a:ln/>
        </p:spPr>
        <p:txBody>
          <a:bodyPr wrap="square" lIns="25400" tIns="25400" rIns="25400" bIns="25400" rtlCol="0" anchor="t">
            <a:normAutofit/>
          </a:bodyPr>
          <a:lstStyle/>
          <a:p>
            <a:pPr algn="l" indent="0" marL="0">
              <a:lnSpc>
                <a:spcPct val="98000"/>
              </a:lnSpc>
              <a:buNone/>
            </a:pPr>
            <a:r>
              <a:rPr lang="en-US" sz="8400" i="1" spc="-126" kern="0" dirty="0">
                <a:solidFill>
                  <a:srgbClr val="E8B04B"/>
                </a:solidFill>
                <a:latin typeface="Georgia" pitchFamily="34" charset="0"/>
                <a:ea typeface="Georgia" pitchFamily="34" charset="-122"/>
                <a:cs typeface="Georgia" pitchFamily="34" charset="-120"/>
              </a:rPr>
              <a:t>Hospital </a:t>
            </a:r>
            <a:pPr algn="l" indent="0" marL="0">
              <a:lnSpc>
                <a:spcPct val="98000"/>
              </a:lnSpc>
              <a:buNone/>
            </a:pPr>
            <a:r>
              <a:rPr lang="en-US" sz="8400" spc="-126" kern="0" dirty="0">
                <a:solidFill>
                  <a:srgbClr val="E8E4D8"/>
                </a:solidFill>
                <a:latin typeface="Georgia" pitchFamily="34" charset="0"/>
                <a:ea typeface="Georgia" pitchFamily="34" charset="-122"/>
                <a:cs typeface="Georgia" pitchFamily="34" charset="-120"/>
              </a:rPr>
              <a:t>&amp; Patient.</a:t>
            </a:r>
            <a:endParaRPr lang="en-US" sz="8400" dirty="0"/>
          </a:p>
        </p:txBody>
      </p:sp>
      <p:sp>
        <p:nvSpPr>
          <p:cNvPr id="6" name="Text 4"/>
          <p:cNvSpPr/>
          <p:nvPr/>
        </p:nvSpPr>
        <p:spPr>
          <a:xfrm>
            <a:off x="952500" y="5591324"/>
            <a:ext cx="7063740" cy="1375321"/>
          </a:xfrm>
          <a:prstGeom prst="rect">
            <a:avLst/>
          </a:prstGeom>
          <a:noFill/>
          <a:ln/>
        </p:spPr>
        <p:txBody>
          <a:bodyPr wrap="square" lIns="25400" tIns="25400" rIns="25400" bIns="25400" rtlCol="0" anchor="t">
            <a:normAutofit/>
          </a:bodyPr>
          <a:lstStyle/>
          <a:p>
            <a:pPr algn="l" indent="0" marL="0">
              <a:lnSpc>
                <a:spcPct val="130000"/>
              </a:lnSpc>
              <a:buNone/>
            </a:pPr>
            <a:r>
              <a:rPr lang="en-US" sz="2700" dirty="0">
                <a:solidFill>
                  <a:srgbClr val="A8A394"/>
                </a:solidFill>
                <a:latin typeface="Georgia" pitchFamily="34" charset="0"/>
                <a:ea typeface="Georgia" pitchFamily="34" charset="-122"/>
                <a:cs typeface="Georgia" pitchFamily="34" charset="-120"/>
              </a:rPr>
              <a:t>Walks patients through intake, consent, and aftercare — with comprehension confirmed, not assumed.</a:t>
            </a:r>
            <a:endParaRPr lang="en-US" sz="2700" dirty="0"/>
          </a:p>
        </p:txBody>
      </p:sp>
      <p:sp>
        <p:nvSpPr>
          <p:cNvPr id="7" name="Text 5"/>
          <p:cNvSpPr/>
          <p:nvPr/>
        </p:nvSpPr>
        <p:spPr>
          <a:xfrm>
            <a:off x="9715500" y="2171700"/>
            <a:ext cx="784860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WHAT CHANGES</a:t>
            </a:r>
            <a:endParaRPr lang="en-US" sz="1800" dirty="0"/>
          </a:p>
        </p:txBody>
      </p:sp>
      <p:sp>
        <p:nvSpPr>
          <p:cNvPr id="8" name="Shape 6"/>
          <p:cNvSpPr/>
          <p:nvPr/>
        </p:nvSpPr>
        <p:spPr>
          <a:xfrm>
            <a:off x="9715500" y="2733675"/>
            <a:ext cx="7620000" cy="9525"/>
          </a:xfrm>
          <a:prstGeom prst="rect">
            <a:avLst/>
          </a:prstGeom>
          <a:solidFill>
            <a:srgbClr val="2A3344"/>
          </a:solidFill>
          <a:ln/>
        </p:spPr>
      </p:sp>
      <p:sp>
        <p:nvSpPr>
          <p:cNvPr id="9" name="Text 7"/>
          <p:cNvSpPr/>
          <p:nvPr/>
        </p:nvSpPr>
        <p:spPr>
          <a:xfrm>
            <a:off x="9715500" y="3038475"/>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01</a:t>
            </a:r>
            <a:endParaRPr lang="en-US" sz="1800" dirty="0"/>
          </a:p>
        </p:txBody>
      </p:sp>
      <p:sp>
        <p:nvSpPr>
          <p:cNvPr id="10" name="Text 8"/>
          <p:cNvSpPr/>
          <p:nvPr/>
        </p:nvSpPr>
        <p:spPr>
          <a:xfrm>
            <a:off x="10287000" y="2952750"/>
            <a:ext cx="7259955" cy="78477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Informed consent means informed — comprehension checked in plain language.</a:t>
            </a:r>
            <a:endParaRPr lang="en-US" sz="2100" dirty="0"/>
          </a:p>
        </p:txBody>
      </p:sp>
      <p:sp>
        <p:nvSpPr>
          <p:cNvPr id="11" name="Shape 9"/>
          <p:cNvSpPr/>
          <p:nvPr/>
        </p:nvSpPr>
        <p:spPr>
          <a:xfrm>
            <a:off x="9715500" y="3908971"/>
            <a:ext cx="7620000" cy="9525"/>
          </a:xfrm>
          <a:prstGeom prst="rect">
            <a:avLst/>
          </a:prstGeom>
          <a:solidFill>
            <a:srgbClr val="2A3344"/>
          </a:solidFill>
          <a:ln/>
        </p:spPr>
      </p:sp>
      <p:sp>
        <p:nvSpPr>
          <p:cNvPr id="12" name="Text 10"/>
          <p:cNvSpPr/>
          <p:nvPr/>
        </p:nvSpPr>
        <p:spPr>
          <a:xfrm>
            <a:off x="9715500" y="4213771"/>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02</a:t>
            </a:r>
            <a:endParaRPr lang="en-US" sz="1800" dirty="0"/>
          </a:p>
        </p:txBody>
      </p:sp>
      <p:sp>
        <p:nvSpPr>
          <p:cNvPr id="13" name="Text 11"/>
          <p:cNvSpPr/>
          <p:nvPr/>
        </p:nvSpPr>
        <p:spPr>
          <a:xfrm>
            <a:off x="10287000" y="4128046"/>
            <a:ext cx="7259955"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Aftercare instructions the patient can actually follow.</a:t>
            </a:r>
            <a:endParaRPr lang="en-US" sz="2100" dirty="0"/>
          </a:p>
        </p:txBody>
      </p:sp>
      <p:sp>
        <p:nvSpPr>
          <p:cNvPr id="14" name="Shape 12"/>
          <p:cNvSpPr/>
          <p:nvPr/>
        </p:nvSpPr>
        <p:spPr>
          <a:xfrm>
            <a:off x="9715500" y="4710931"/>
            <a:ext cx="7620000" cy="9525"/>
          </a:xfrm>
          <a:prstGeom prst="rect">
            <a:avLst/>
          </a:prstGeom>
          <a:solidFill>
            <a:srgbClr val="2A3344"/>
          </a:solidFill>
          <a:ln/>
        </p:spPr>
      </p:sp>
      <p:sp>
        <p:nvSpPr>
          <p:cNvPr id="15" name="Text 13"/>
          <p:cNvSpPr/>
          <p:nvPr/>
        </p:nvSpPr>
        <p:spPr>
          <a:xfrm>
            <a:off x="9715500" y="5015731"/>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03</a:t>
            </a:r>
            <a:endParaRPr lang="en-US" sz="1800" dirty="0"/>
          </a:p>
        </p:txBody>
      </p:sp>
      <p:sp>
        <p:nvSpPr>
          <p:cNvPr id="16" name="Text 14"/>
          <p:cNvSpPr/>
          <p:nvPr/>
        </p:nvSpPr>
        <p:spPr>
          <a:xfrm>
            <a:off x="10287000" y="4930006"/>
            <a:ext cx="7259955" cy="78477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Nurses repeat themselves less; patients stay oriented and calm.</a:t>
            </a:r>
            <a:endParaRPr lang="en-US" sz="2100" dirty="0"/>
          </a:p>
        </p:txBody>
      </p:sp>
      <p:sp>
        <p:nvSpPr>
          <p:cNvPr id="17" name="Shape 15"/>
          <p:cNvSpPr/>
          <p:nvPr/>
        </p:nvSpPr>
        <p:spPr>
          <a:xfrm>
            <a:off x="9715500" y="6688187"/>
            <a:ext cx="7620000" cy="9525"/>
          </a:xfrm>
          <a:prstGeom prst="rect">
            <a:avLst/>
          </a:prstGeom>
          <a:solidFill>
            <a:srgbClr val="2A3344"/>
          </a:solidFill>
          <a:ln/>
        </p:spPr>
      </p:sp>
      <p:sp>
        <p:nvSpPr>
          <p:cNvPr id="18" name="Shape 16"/>
          <p:cNvSpPr/>
          <p:nvPr/>
        </p:nvSpPr>
        <p:spPr>
          <a:xfrm>
            <a:off x="9715500" y="5886227"/>
            <a:ext cx="7620000" cy="9525"/>
          </a:xfrm>
          <a:prstGeom prst="rect">
            <a:avLst/>
          </a:prstGeom>
          <a:solidFill>
            <a:srgbClr val="2A3344"/>
          </a:solidFill>
          <a:ln/>
        </p:spPr>
      </p:sp>
      <p:sp>
        <p:nvSpPr>
          <p:cNvPr id="19" name="Text 17"/>
          <p:cNvSpPr/>
          <p:nvPr/>
        </p:nvSpPr>
        <p:spPr>
          <a:xfrm>
            <a:off x="9715500" y="6191027"/>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04</a:t>
            </a:r>
            <a:endParaRPr lang="en-US" sz="1800" dirty="0"/>
          </a:p>
        </p:txBody>
      </p:sp>
      <p:sp>
        <p:nvSpPr>
          <p:cNvPr id="20" name="Text 18"/>
          <p:cNvSpPr/>
          <p:nvPr/>
        </p:nvSpPr>
        <p:spPr>
          <a:xfrm>
            <a:off x="10287000" y="6105302"/>
            <a:ext cx="7259955"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Every consent logged, signed, auditable.</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09 / 16</a:t>
            </a:r>
            <a:endParaRPr lang="en-US" sz="1800" dirty="0"/>
          </a:p>
        </p:txBody>
      </p:sp>
      <p:sp>
        <p:nvSpPr>
          <p:cNvPr id="4" name="Text 2"/>
          <p:cNvSpPr/>
          <p:nvPr/>
        </p:nvSpPr>
        <p:spPr>
          <a:xfrm>
            <a:off x="952500" y="2324100"/>
            <a:ext cx="784860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E8B04B"/>
                </a:solidFill>
                <a:latin typeface="Courier New" pitchFamily="34" charset="0"/>
                <a:ea typeface="Courier New" pitchFamily="34" charset="-122"/>
                <a:cs typeface="Courier New" pitchFamily="34" charset="-120"/>
              </a:rPr>
              <a:t>SPOTLIGHT · 03 / 04</a:t>
            </a:r>
            <a:endParaRPr lang="en-US" sz="1800" dirty="0"/>
          </a:p>
        </p:txBody>
      </p:sp>
      <p:sp>
        <p:nvSpPr>
          <p:cNvPr id="5" name="Text 3"/>
          <p:cNvSpPr/>
          <p:nvPr/>
        </p:nvSpPr>
        <p:spPr>
          <a:xfrm>
            <a:off x="952500" y="3152775"/>
            <a:ext cx="7848600" cy="2133749"/>
          </a:xfrm>
          <a:prstGeom prst="rect">
            <a:avLst/>
          </a:prstGeom>
          <a:noFill/>
          <a:ln/>
        </p:spPr>
        <p:txBody>
          <a:bodyPr wrap="square" lIns="25400" tIns="25400" rIns="25400" bIns="25400" rtlCol="0" anchor="t">
            <a:normAutofit/>
          </a:bodyPr>
          <a:lstStyle/>
          <a:p>
            <a:pPr algn="l" indent="0" marL="0">
              <a:lnSpc>
                <a:spcPct val="98000"/>
              </a:lnSpc>
              <a:buNone/>
            </a:pPr>
            <a:r>
              <a:rPr lang="en-US" sz="8400" i="1" spc="-126" kern="0" dirty="0">
                <a:solidFill>
                  <a:srgbClr val="E8B04B"/>
                </a:solidFill>
                <a:latin typeface="Georgia" pitchFamily="34" charset="0"/>
                <a:ea typeface="Georgia" pitchFamily="34" charset="-122"/>
                <a:cs typeface="Georgia" pitchFamily="34" charset="-120"/>
              </a:rPr>
              <a:t>Court </a:t>
            </a:r>
            <a:pPr algn="l" indent="0" marL="0">
              <a:lnSpc>
                <a:spcPct val="98000"/>
              </a:lnSpc>
              <a:buNone/>
            </a:pPr>
            <a:r>
              <a:rPr lang="en-US" sz="8400" spc="-126" kern="0" dirty="0">
                <a:solidFill>
                  <a:srgbClr val="E8E4D8"/>
                </a:solidFill>
                <a:latin typeface="Georgia" pitchFamily="34" charset="0"/>
                <a:ea typeface="Georgia" pitchFamily="34" charset="-122"/>
                <a:cs typeface="Georgia" pitchFamily="34" charset="-120"/>
              </a:rPr>
              <a:t>&amp; Legal Clerk.</a:t>
            </a:r>
            <a:endParaRPr lang="en-US" sz="8400" dirty="0"/>
          </a:p>
        </p:txBody>
      </p:sp>
      <p:sp>
        <p:nvSpPr>
          <p:cNvPr id="6" name="Text 4"/>
          <p:cNvSpPr/>
          <p:nvPr/>
        </p:nvSpPr>
        <p:spPr>
          <a:xfrm>
            <a:off x="952500" y="5591324"/>
            <a:ext cx="7063740" cy="1375321"/>
          </a:xfrm>
          <a:prstGeom prst="rect">
            <a:avLst/>
          </a:prstGeom>
          <a:noFill/>
          <a:ln/>
        </p:spPr>
        <p:txBody>
          <a:bodyPr wrap="square" lIns="25400" tIns="25400" rIns="25400" bIns="25400" rtlCol="0" anchor="t">
            <a:normAutofit/>
          </a:bodyPr>
          <a:lstStyle/>
          <a:p>
            <a:pPr algn="l" indent="0" marL="0">
              <a:lnSpc>
                <a:spcPct val="130000"/>
              </a:lnSpc>
              <a:buNone/>
            </a:pPr>
            <a:r>
              <a:rPr lang="en-US" sz="2700" dirty="0">
                <a:solidFill>
                  <a:srgbClr val="A8A394"/>
                </a:solidFill>
                <a:latin typeface="Georgia" pitchFamily="34" charset="0"/>
                <a:ea typeface="Georgia" pitchFamily="34" charset="-122"/>
                <a:cs typeface="Georgia" pitchFamily="34" charset="-120"/>
              </a:rPr>
              <a:t>Helps self-represented citizens file motions, pay fines, and meet deadlines — without a lawyer at their elbow.</a:t>
            </a:r>
            <a:endParaRPr lang="en-US" sz="2700" dirty="0"/>
          </a:p>
        </p:txBody>
      </p:sp>
      <p:sp>
        <p:nvSpPr>
          <p:cNvPr id="7" name="Text 5"/>
          <p:cNvSpPr/>
          <p:nvPr/>
        </p:nvSpPr>
        <p:spPr>
          <a:xfrm>
            <a:off x="9715500" y="2171700"/>
            <a:ext cx="784860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WHAT CHANGES</a:t>
            </a:r>
            <a:endParaRPr lang="en-US" sz="1800" dirty="0"/>
          </a:p>
        </p:txBody>
      </p:sp>
      <p:sp>
        <p:nvSpPr>
          <p:cNvPr id="8" name="Shape 6"/>
          <p:cNvSpPr/>
          <p:nvPr/>
        </p:nvSpPr>
        <p:spPr>
          <a:xfrm>
            <a:off x="9715500" y="2733675"/>
            <a:ext cx="7620000" cy="9525"/>
          </a:xfrm>
          <a:prstGeom prst="rect">
            <a:avLst/>
          </a:prstGeom>
          <a:solidFill>
            <a:srgbClr val="2A3344"/>
          </a:solidFill>
          <a:ln/>
        </p:spPr>
      </p:sp>
      <p:sp>
        <p:nvSpPr>
          <p:cNvPr id="9" name="Text 7"/>
          <p:cNvSpPr/>
          <p:nvPr/>
        </p:nvSpPr>
        <p:spPr>
          <a:xfrm>
            <a:off x="9715500" y="3038475"/>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01</a:t>
            </a:r>
            <a:endParaRPr lang="en-US" sz="1800" dirty="0"/>
          </a:p>
        </p:txBody>
      </p:sp>
      <p:sp>
        <p:nvSpPr>
          <p:cNvPr id="10" name="Text 8"/>
          <p:cNvSpPr/>
          <p:nvPr/>
        </p:nvSpPr>
        <p:spPr>
          <a:xfrm>
            <a:off x="10287000" y="2952750"/>
            <a:ext cx="7259955" cy="78477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Procedure explained clearly; correct forms suggested on the spot.</a:t>
            </a:r>
            <a:endParaRPr lang="en-US" sz="2100" dirty="0"/>
          </a:p>
        </p:txBody>
      </p:sp>
      <p:sp>
        <p:nvSpPr>
          <p:cNvPr id="11" name="Shape 9"/>
          <p:cNvSpPr/>
          <p:nvPr/>
        </p:nvSpPr>
        <p:spPr>
          <a:xfrm>
            <a:off x="9715500" y="3908971"/>
            <a:ext cx="7620000" cy="9525"/>
          </a:xfrm>
          <a:prstGeom prst="rect">
            <a:avLst/>
          </a:prstGeom>
          <a:solidFill>
            <a:srgbClr val="2A3344"/>
          </a:solidFill>
          <a:ln/>
        </p:spPr>
      </p:sp>
      <p:sp>
        <p:nvSpPr>
          <p:cNvPr id="12" name="Text 10"/>
          <p:cNvSpPr/>
          <p:nvPr/>
        </p:nvSpPr>
        <p:spPr>
          <a:xfrm>
            <a:off x="9715500" y="4213771"/>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02</a:t>
            </a:r>
            <a:endParaRPr lang="en-US" sz="1800" dirty="0"/>
          </a:p>
        </p:txBody>
      </p:sp>
      <p:sp>
        <p:nvSpPr>
          <p:cNvPr id="13" name="Text 11"/>
          <p:cNvSpPr/>
          <p:nvPr/>
        </p:nvSpPr>
        <p:spPr>
          <a:xfrm>
            <a:off x="10287000" y="4128046"/>
            <a:ext cx="7259955"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Deadlines tracked — fewer procedural dismissals.</a:t>
            </a:r>
            <a:endParaRPr lang="en-US" sz="2100" dirty="0"/>
          </a:p>
        </p:txBody>
      </p:sp>
      <p:sp>
        <p:nvSpPr>
          <p:cNvPr id="14" name="Shape 12"/>
          <p:cNvSpPr/>
          <p:nvPr/>
        </p:nvSpPr>
        <p:spPr>
          <a:xfrm>
            <a:off x="9715500" y="4710931"/>
            <a:ext cx="7620000" cy="9525"/>
          </a:xfrm>
          <a:prstGeom prst="rect">
            <a:avLst/>
          </a:prstGeom>
          <a:solidFill>
            <a:srgbClr val="2A3344"/>
          </a:solidFill>
          <a:ln/>
        </p:spPr>
      </p:sp>
      <p:sp>
        <p:nvSpPr>
          <p:cNvPr id="15" name="Text 13"/>
          <p:cNvSpPr/>
          <p:nvPr/>
        </p:nvSpPr>
        <p:spPr>
          <a:xfrm>
            <a:off x="9715500" y="5015731"/>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03</a:t>
            </a:r>
            <a:endParaRPr lang="en-US" sz="1800" dirty="0"/>
          </a:p>
        </p:txBody>
      </p:sp>
      <p:sp>
        <p:nvSpPr>
          <p:cNvPr id="16" name="Text 14"/>
          <p:cNvSpPr/>
          <p:nvPr/>
        </p:nvSpPr>
        <p:spPr>
          <a:xfrm>
            <a:off x="10287000" y="4930006"/>
            <a:ext cx="7259955"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Legal definitions on demand, in the language of the user.</a:t>
            </a:r>
            <a:endParaRPr lang="en-US" sz="2100" dirty="0"/>
          </a:p>
        </p:txBody>
      </p:sp>
      <p:sp>
        <p:nvSpPr>
          <p:cNvPr id="17" name="Shape 15"/>
          <p:cNvSpPr/>
          <p:nvPr/>
        </p:nvSpPr>
        <p:spPr>
          <a:xfrm>
            <a:off x="9715500" y="6314852"/>
            <a:ext cx="7620000" cy="9525"/>
          </a:xfrm>
          <a:prstGeom prst="rect">
            <a:avLst/>
          </a:prstGeom>
          <a:solidFill>
            <a:srgbClr val="2A3344"/>
          </a:solidFill>
          <a:ln/>
        </p:spPr>
      </p:sp>
      <p:sp>
        <p:nvSpPr>
          <p:cNvPr id="18" name="Shape 16"/>
          <p:cNvSpPr/>
          <p:nvPr/>
        </p:nvSpPr>
        <p:spPr>
          <a:xfrm>
            <a:off x="9715500" y="5512891"/>
            <a:ext cx="7620000" cy="9525"/>
          </a:xfrm>
          <a:prstGeom prst="rect">
            <a:avLst/>
          </a:prstGeom>
          <a:solidFill>
            <a:srgbClr val="2A3344"/>
          </a:solidFill>
          <a:ln/>
        </p:spPr>
      </p:sp>
      <p:sp>
        <p:nvSpPr>
          <p:cNvPr id="19" name="Text 17"/>
          <p:cNvSpPr/>
          <p:nvPr/>
        </p:nvSpPr>
        <p:spPr>
          <a:xfrm>
            <a:off x="9715500" y="5817691"/>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04</a:t>
            </a:r>
            <a:endParaRPr lang="en-US" sz="1800" dirty="0"/>
          </a:p>
        </p:txBody>
      </p:sp>
      <p:sp>
        <p:nvSpPr>
          <p:cNvPr id="20" name="Text 18"/>
          <p:cNvSpPr/>
          <p:nvPr/>
        </p:nvSpPr>
        <p:spPr>
          <a:xfrm>
            <a:off x="10287000" y="5731966"/>
            <a:ext cx="7259955"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Courthouse congestion falls; access to justice rises.</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10 / 16</a:t>
            </a:r>
            <a:endParaRPr lang="en-US" sz="1800" dirty="0"/>
          </a:p>
        </p:txBody>
      </p:sp>
      <p:sp>
        <p:nvSpPr>
          <p:cNvPr id="4" name="Text 2"/>
          <p:cNvSpPr/>
          <p:nvPr/>
        </p:nvSpPr>
        <p:spPr>
          <a:xfrm>
            <a:off x="952500" y="2324100"/>
            <a:ext cx="784860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E8B04B"/>
                </a:solidFill>
                <a:latin typeface="Courier New" pitchFamily="34" charset="0"/>
                <a:ea typeface="Courier New" pitchFamily="34" charset="-122"/>
                <a:cs typeface="Courier New" pitchFamily="34" charset="-120"/>
              </a:rPr>
              <a:t>SPOTLIGHT · 04 / 04</a:t>
            </a:r>
            <a:endParaRPr lang="en-US" sz="1800" dirty="0"/>
          </a:p>
        </p:txBody>
      </p:sp>
      <p:sp>
        <p:nvSpPr>
          <p:cNvPr id="5" name="Text 3"/>
          <p:cNvSpPr/>
          <p:nvPr/>
        </p:nvSpPr>
        <p:spPr>
          <a:xfrm>
            <a:off x="952500" y="3152775"/>
            <a:ext cx="7848600" cy="2133749"/>
          </a:xfrm>
          <a:prstGeom prst="rect">
            <a:avLst/>
          </a:prstGeom>
          <a:noFill/>
          <a:ln/>
        </p:spPr>
        <p:txBody>
          <a:bodyPr wrap="square" lIns="25400" tIns="25400" rIns="25400" bIns="25400" rtlCol="0" anchor="t">
            <a:normAutofit/>
          </a:bodyPr>
          <a:lstStyle/>
          <a:p>
            <a:pPr algn="l" indent="0" marL="0">
              <a:lnSpc>
                <a:spcPct val="98000"/>
              </a:lnSpc>
              <a:buNone/>
            </a:pPr>
            <a:r>
              <a:rPr lang="en-US" sz="8400" i="1" spc="-126" kern="0" dirty="0">
                <a:solidFill>
                  <a:srgbClr val="E8B04B"/>
                </a:solidFill>
                <a:latin typeface="Georgia" pitchFamily="34" charset="0"/>
                <a:ea typeface="Georgia" pitchFamily="34" charset="-122"/>
                <a:cs typeface="Georgia" pitchFamily="34" charset="-120"/>
              </a:rPr>
              <a:t>Housing </a:t>
            </a:r>
            <a:pPr algn="l" indent="0" marL="0">
              <a:lnSpc>
                <a:spcPct val="98000"/>
              </a:lnSpc>
              <a:buNone/>
            </a:pPr>
            <a:r>
              <a:rPr lang="en-US" sz="8400" spc="-126" kern="0" dirty="0">
                <a:solidFill>
                  <a:srgbClr val="E8E4D8"/>
                </a:solidFill>
                <a:latin typeface="Georgia" pitchFamily="34" charset="0"/>
                <a:ea typeface="Georgia" pitchFamily="34" charset="-122"/>
                <a:cs typeface="Georgia" pitchFamily="34" charset="-120"/>
              </a:rPr>
              <a:t>&amp; Tenant.</a:t>
            </a:r>
            <a:endParaRPr lang="en-US" sz="8400" dirty="0"/>
          </a:p>
        </p:txBody>
      </p:sp>
      <p:sp>
        <p:nvSpPr>
          <p:cNvPr id="6" name="Text 4"/>
          <p:cNvSpPr/>
          <p:nvPr/>
        </p:nvSpPr>
        <p:spPr>
          <a:xfrm>
            <a:off x="952500" y="5591324"/>
            <a:ext cx="7063740" cy="1375321"/>
          </a:xfrm>
          <a:prstGeom prst="rect">
            <a:avLst/>
          </a:prstGeom>
          <a:noFill/>
          <a:ln/>
        </p:spPr>
        <p:txBody>
          <a:bodyPr wrap="square" lIns="25400" tIns="25400" rIns="25400" bIns="25400" rtlCol="0" anchor="t">
            <a:normAutofit/>
          </a:bodyPr>
          <a:lstStyle/>
          <a:p>
            <a:pPr algn="l" indent="0" marL="0">
              <a:lnSpc>
                <a:spcPct val="130000"/>
              </a:lnSpc>
              <a:buNone/>
            </a:pPr>
            <a:r>
              <a:rPr lang="en-US" sz="2700" dirty="0">
                <a:solidFill>
                  <a:srgbClr val="A8A394"/>
                </a:solidFill>
                <a:latin typeface="Georgia" pitchFamily="34" charset="0"/>
                <a:ea typeface="Georgia" pitchFamily="34" charset="-122"/>
                <a:cs typeface="Georgia" pitchFamily="34" charset="-120"/>
              </a:rPr>
              <a:t>Landlords have lawyers. Tenants have Google. A leveler for the process the law already describes.</a:t>
            </a:r>
            <a:endParaRPr lang="en-US" sz="2700" dirty="0"/>
          </a:p>
        </p:txBody>
      </p:sp>
      <p:sp>
        <p:nvSpPr>
          <p:cNvPr id="7" name="Text 5"/>
          <p:cNvSpPr/>
          <p:nvPr/>
        </p:nvSpPr>
        <p:spPr>
          <a:xfrm>
            <a:off x="9715500" y="2171700"/>
            <a:ext cx="7848600"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WHAT CHANGES</a:t>
            </a:r>
            <a:endParaRPr lang="en-US" sz="1800" dirty="0"/>
          </a:p>
        </p:txBody>
      </p:sp>
      <p:sp>
        <p:nvSpPr>
          <p:cNvPr id="8" name="Shape 6"/>
          <p:cNvSpPr/>
          <p:nvPr/>
        </p:nvSpPr>
        <p:spPr>
          <a:xfrm>
            <a:off x="9715500" y="2733675"/>
            <a:ext cx="7620000" cy="9525"/>
          </a:xfrm>
          <a:prstGeom prst="rect">
            <a:avLst/>
          </a:prstGeom>
          <a:solidFill>
            <a:srgbClr val="2A3344"/>
          </a:solidFill>
          <a:ln/>
        </p:spPr>
      </p:sp>
      <p:sp>
        <p:nvSpPr>
          <p:cNvPr id="9" name="Text 7"/>
          <p:cNvSpPr/>
          <p:nvPr/>
        </p:nvSpPr>
        <p:spPr>
          <a:xfrm>
            <a:off x="9715500" y="3038475"/>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01</a:t>
            </a:r>
            <a:endParaRPr lang="en-US" sz="1800" dirty="0"/>
          </a:p>
        </p:txBody>
      </p:sp>
      <p:sp>
        <p:nvSpPr>
          <p:cNvPr id="10" name="Text 8"/>
          <p:cNvSpPr/>
          <p:nvPr/>
        </p:nvSpPr>
        <p:spPr>
          <a:xfrm>
            <a:off x="10287000" y="2952750"/>
            <a:ext cx="7259955"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Legal rights explained; dispute letters generated.</a:t>
            </a:r>
            <a:endParaRPr lang="en-US" sz="2100" dirty="0"/>
          </a:p>
        </p:txBody>
      </p:sp>
      <p:sp>
        <p:nvSpPr>
          <p:cNvPr id="11" name="Shape 9"/>
          <p:cNvSpPr/>
          <p:nvPr/>
        </p:nvSpPr>
        <p:spPr>
          <a:xfrm>
            <a:off x="9715500" y="3535635"/>
            <a:ext cx="7620000" cy="9525"/>
          </a:xfrm>
          <a:prstGeom prst="rect">
            <a:avLst/>
          </a:prstGeom>
          <a:solidFill>
            <a:srgbClr val="2A3344"/>
          </a:solidFill>
          <a:ln/>
        </p:spPr>
      </p:sp>
      <p:sp>
        <p:nvSpPr>
          <p:cNvPr id="12" name="Text 10"/>
          <p:cNvSpPr/>
          <p:nvPr/>
        </p:nvSpPr>
        <p:spPr>
          <a:xfrm>
            <a:off x="9715500" y="3840435"/>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02</a:t>
            </a:r>
            <a:endParaRPr lang="en-US" sz="1800" dirty="0"/>
          </a:p>
        </p:txBody>
      </p:sp>
      <p:sp>
        <p:nvSpPr>
          <p:cNvPr id="13" name="Text 11"/>
          <p:cNvSpPr/>
          <p:nvPr/>
        </p:nvSpPr>
        <p:spPr>
          <a:xfrm>
            <a:off x="10287000" y="3754710"/>
            <a:ext cx="7259955"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Deadlines tracked; wrongful evictions prevented.</a:t>
            </a:r>
            <a:endParaRPr lang="en-US" sz="2100" dirty="0"/>
          </a:p>
        </p:txBody>
      </p:sp>
      <p:sp>
        <p:nvSpPr>
          <p:cNvPr id="14" name="Shape 12"/>
          <p:cNvSpPr/>
          <p:nvPr/>
        </p:nvSpPr>
        <p:spPr>
          <a:xfrm>
            <a:off x="9715500" y="4337596"/>
            <a:ext cx="7620000" cy="9525"/>
          </a:xfrm>
          <a:prstGeom prst="rect">
            <a:avLst/>
          </a:prstGeom>
          <a:solidFill>
            <a:srgbClr val="2A3344"/>
          </a:solidFill>
          <a:ln/>
        </p:spPr>
      </p:sp>
      <p:sp>
        <p:nvSpPr>
          <p:cNvPr id="15" name="Text 13"/>
          <p:cNvSpPr/>
          <p:nvPr/>
        </p:nvSpPr>
        <p:spPr>
          <a:xfrm>
            <a:off x="9715500" y="4642396"/>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03</a:t>
            </a:r>
            <a:endParaRPr lang="en-US" sz="1800" dirty="0"/>
          </a:p>
        </p:txBody>
      </p:sp>
      <p:sp>
        <p:nvSpPr>
          <p:cNvPr id="16" name="Text 14"/>
          <p:cNvSpPr/>
          <p:nvPr/>
        </p:nvSpPr>
        <p:spPr>
          <a:xfrm>
            <a:off x="10287000" y="4556671"/>
            <a:ext cx="7259955"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Escalation to legal aid when a case needs a human.</a:t>
            </a:r>
            <a:endParaRPr lang="en-US" sz="2100" dirty="0"/>
          </a:p>
        </p:txBody>
      </p:sp>
      <p:sp>
        <p:nvSpPr>
          <p:cNvPr id="17" name="Shape 15"/>
          <p:cNvSpPr/>
          <p:nvPr/>
        </p:nvSpPr>
        <p:spPr>
          <a:xfrm>
            <a:off x="9715500" y="5941516"/>
            <a:ext cx="7620000" cy="9525"/>
          </a:xfrm>
          <a:prstGeom prst="rect">
            <a:avLst/>
          </a:prstGeom>
          <a:solidFill>
            <a:srgbClr val="2A3344"/>
          </a:solidFill>
          <a:ln/>
        </p:spPr>
      </p:sp>
      <p:sp>
        <p:nvSpPr>
          <p:cNvPr id="18" name="Shape 16"/>
          <p:cNvSpPr/>
          <p:nvPr/>
        </p:nvSpPr>
        <p:spPr>
          <a:xfrm>
            <a:off x="9715500" y="5139556"/>
            <a:ext cx="7620000" cy="9525"/>
          </a:xfrm>
          <a:prstGeom prst="rect">
            <a:avLst/>
          </a:prstGeom>
          <a:solidFill>
            <a:srgbClr val="2A3344"/>
          </a:solidFill>
          <a:ln/>
        </p:spPr>
      </p:sp>
      <p:sp>
        <p:nvSpPr>
          <p:cNvPr id="19" name="Text 17"/>
          <p:cNvSpPr/>
          <p:nvPr/>
        </p:nvSpPr>
        <p:spPr>
          <a:xfrm>
            <a:off x="9715500" y="5444356"/>
            <a:ext cx="647700"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E8B04B"/>
                </a:solidFill>
                <a:latin typeface="Courier New" pitchFamily="34" charset="0"/>
                <a:ea typeface="Courier New" pitchFamily="34" charset="-122"/>
                <a:cs typeface="Courier New" pitchFamily="34" charset="-120"/>
              </a:rPr>
              <a:t>04</a:t>
            </a:r>
            <a:endParaRPr lang="en-US" sz="1800" dirty="0"/>
          </a:p>
        </p:txBody>
      </p:sp>
      <p:sp>
        <p:nvSpPr>
          <p:cNvPr id="20" name="Text 18"/>
          <p:cNvSpPr/>
          <p:nvPr/>
        </p:nvSpPr>
        <p:spPr>
          <a:xfrm>
            <a:off x="10287000" y="5358631"/>
            <a:ext cx="7259955" cy="411435"/>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E8E4D8"/>
                </a:solidFill>
                <a:latin typeface="-apple-system" pitchFamily="34" charset="0"/>
                <a:ea typeface="-apple-system" pitchFamily="34" charset="-122"/>
                <a:cs typeface="-apple-system" pitchFamily="34" charset="-120"/>
              </a:rPr>
              <a:t>Power dynamics brought back into balance.</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11 / 16</a:t>
            </a:r>
            <a:endParaRPr lang="en-US" sz="1800" dirty="0"/>
          </a:p>
        </p:txBody>
      </p:sp>
      <p:sp>
        <p:nvSpPr>
          <p:cNvPr id="4" name="Text 2"/>
          <p:cNvSpPr/>
          <p:nvPr/>
        </p:nvSpPr>
        <p:spPr>
          <a:xfrm>
            <a:off x="952500" y="1409700"/>
            <a:ext cx="1065869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spc="-54" kern="0" dirty="0">
                <a:solidFill>
                  <a:srgbClr val="E8E4D8"/>
                </a:solidFill>
                <a:latin typeface="Georgia" pitchFamily="34" charset="0"/>
                <a:ea typeface="Georgia" pitchFamily="34" charset="-122"/>
                <a:cs typeface="Georgia" pitchFamily="34" charset="-120"/>
              </a:rPr>
              <a:t>Everywhere a person meets an institution.</a:t>
            </a:r>
            <a:endParaRPr lang="en-US" sz="4500" dirty="0"/>
          </a:p>
        </p:txBody>
      </p:sp>
      <p:sp>
        <p:nvSpPr>
          <p:cNvPr id="5" name="Text 3"/>
          <p:cNvSpPr/>
          <p:nvPr/>
        </p:nvSpPr>
        <p:spPr>
          <a:xfrm>
            <a:off x="12648605" y="1704975"/>
            <a:ext cx="4827502"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B04B"/>
                </a:solidFill>
                <a:latin typeface="Courier New" pitchFamily="34" charset="0"/>
                <a:ea typeface="Courier New" pitchFamily="34" charset="-122"/>
                <a:cs typeface="Courier New" pitchFamily="34" charset="-120"/>
              </a:rPr>
              <a:t>28 DOMAINS · AND COUNTING</a:t>
            </a:r>
            <a:endParaRPr lang="en-US" sz="1800" dirty="0"/>
          </a:p>
        </p:txBody>
      </p:sp>
      <p:sp>
        <p:nvSpPr>
          <p:cNvPr id="6" name="Shape 4"/>
          <p:cNvSpPr/>
          <p:nvPr/>
        </p:nvSpPr>
        <p:spPr>
          <a:xfrm>
            <a:off x="952500" y="2286000"/>
            <a:ext cx="16383000" cy="7315200"/>
          </a:xfrm>
          <a:prstGeom prst="rect">
            <a:avLst/>
          </a:prstGeom>
          <a:solidFill>
            <a:srgbClr val="2A3344"/>
          </a:solidFill>
          <a:ln w="9525">
            <a:solidFill>
              <a:srgbClr val="2A3344"/>
            </a:solidFill>
            <a:prstDash val="solid"/>
          </a:ln>
        </p:spPr>
      </p:sp>
      <p:sp>
        <p:nvSpPr>
          <p:cNvPr id="7" name="Shape 5"/>
          <p:cNvSpPr/>
          <p:nvPr/>
        </p:nvSpPr>
        <p:spPr>
          <a:xfrm>
            <a:off x="962025" y="2295525"/>
            <a:ext cx="3257550" cy="1200150"/>
          </a:xfrm>
          <a:prstGeom prst="rect">
            <a:avLst/>
          </a:prstGeom>
          <a:solidFill>
            <a:srgbClr val="182334"/>
          </a:solidFill>
          <a:ln/>
        </p:spPr>
      </p:sp>
      <p:sp>
        <p:nvSpPr>
          <p:cNvPr id="8" name="Text 6"/>
          <p:cNvSpPr/>
          <p:nvPr/>
        </p:nvSpPr>
        <p:spPr>
          <a:xfrm>
            <a:off x="1152525" y="24669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01</a:t>
            </a:r>
            <a:endParaRPr lang="en-US" sz="1800" dirty="0"/>
          </a:p>
        </p:txBody>
      </p:sp>
      <p:sp>
        <p:nvSpPr>
          <p:cNvPr id="9" name="Text 7"/>
          <p:cNvSpPr/>
          <p:nvPr/>
        </p:nvSpPr>
        <p:spPr>
          <a:xfrm>
            <a:off x="1152525" y="30682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i="1" dirty="0">
                <a:solidFill>
                  <a:srgbClr val="E8B04B"/>
                </a:solidFill>
                <a:latin typeface="Georgia" pitchFamily="34" charset="0"/>
                <a:ea typeface="Georgia" pitchFamily="34" charset="-122"/>
                <a:cs typeface="Georgia" pitchFamily="34" charset="-120"/>
              </a:rPr>
              <a:t>DMV &amp; Transportation</a:t>
            </a:r>
            <a:endParaRPr lang="en-US" sz="1800" dirty="0"/>
          </a:p>
        </p:txBody>
      </p:sp>
      <p:sp>
        <p:nvSpPr>
          <p:cNvPr id="10" name="Shape 8"/>
          <p:cNvSpPr/>
          <p:nvPr/>
        </p:nvSpPr>
        <p:spPr>
          <a:xfrm>
            <a:off x="4238625" y="2295525"/>
            <a:ext cx="3257550" cy="1200150"/>
          </a:xfrm>
          <a:prstGeom prst="rect">
            <a:avLst/>
          </a:prstGeom>
          <a:solidFill>
            <a:srgbClr val="182334"/>
          </a:solidFill>
          <a:ln/>
        </p:spPr>
      </p:sp>
      <p:sp>
        <p:nvSpPr>
          <p:cNvPr id="11" name="Text 9"/>
          <p:cNvSpPr/>
          <p:nvPr/>
        </p:nvSpPr>
        <p:spPr>
          <a:xfrm>
            <a:off x="4429125" y="24669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02</a:t>
            </a:r>
            <a:endParaRPr lang="en-US" sz="1800" dirty="0"/>
          </a:p>
        </p:txBody>
      </p:sp>
      <p:sp>
        <p:nvSpPr>
          <p:cNvPr id="12" name="Text 10"/>
          <p:cNvSpPr/>
          <p:nvPr/>
        </p:nvSpPr>
        <p:spPr>
          <a:xfrm>
            <a:off x="4429125" y="30682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i="1" dirty="0">
                <a:solidFill>
                  <a:srgbClr val="E8B04B"/>
                </a:solidFill>
                <a:latin typeface="Georgia" pitchFamily="34" charset="0"/>
                <a:ea typeface="Georgia" pitchFamily="34" charset="-122"/>
                <a:cs typeface="Georgia" pitchFamily="34" charset="-120"/>
              </a:rPr>
              <a:t>Hospital &amp; Patient</a:t>
            </a:r>
            <a:endParaRPr lang="en-US" sz="1800" dirty="0"/>
          </a:p>
        </p:txBody>
      </p:sp>
      <p:sp>
        <p:nvSpPr>
          <p:cNvPr id="13" name="Shape 11"/>
          <p:cNvSpPr/>
          <p:nvPr/>
        </p:nvSpPr>
        <p:spPr>
          <a:xfrm>
            <a:off x="7515225" y="2295525"/>
            <a:ext cx="3257550" cy="1200150"/>
          </a:xfrm>
          <a:prstGeom prst="rect">
            <a:avLst/>
          </a:prstGeom>
          <a:solidFill>
            <a:srgbClr val="182334"/>
          </a:solidFill>
          <a:ln/>
        </p:spPr>
      </p:sp>
      <p:sp>
        <p:nvSpPr>
          <p:cNvPr id="14" name="Text 12"/>
          <p:cNvSpPr/>
          <p:nvPr/>
        </p:nvSpPr>
        <p:spPr>
          <a:xfrm>
            <a:off x="7705725" y="24669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03</a:t>
            </a:r>
            <a:endParaRPr lang="en-US" sz="1800" dirty="0"/>
          </a:p>
        </p:txBody>
      </p:sp>
      <p:sp>
        <p:nvSpPr>
          <p:cNvPr id="15" name="Text 13"/>
          <p:cNvSpPr/>
          <p:nvPr/>
        </p:nvSpPr>
        <p:spPr>
          <a:xfrm>
            <a:off x="7705725" y="30682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i="1" dirty="0">
                <a:solidFill>
                  <a:srgbClr val="E8B04B"/>
                </a:solidFill>
                <a:latin typeface="Georgia" pitchFamily="34" charset="0"/>
                <a:ea typeface="Georgia" pitchFamily="34" charset="-122"/>
                <a:cs typeface="Georgia" pitchFamily="34" charset="-120"/>
              </a:rPr>
              <a:t>Court &amp; Legal</a:t>
            </a:r>
            <a:endParaRPr lang="en-US" sz="1800" dirty="0"/>
          </a:p>
        </p:txBody>
      </p:sp>
      <p:sp>
        <p:nvSpPr>
          <p:cNvPr id="16" name="Shape 14"/>
          <p:cNvSpPr/>
          <p:nvPr/>
        </p:nvSpPr>
        <p:spPr>
          <a:xfrm>
            <a:off x="10791825" y="2295525"/>
            <a:ext cx="3257550" cy="1200150"/>
          </a:xfrm>
          <a:prstGeom prst="rect">
            <a:avLst/>
          </a:prstGeom>
          <a:solidFill>
            <a:srgbClr val="0E1520"/>
          </a:solidFill>
          <a:ln/>
        </p:spPr>
      </p:sp>
      <p:sp>
        <p:nvSpPr>
          <p:cNvPr id="17" name="Text 15"/>
          <p:cNvSpPr/>
          <p:nvPr/>
        </p:nvSpPr>
        <p:spPr>
          <a:xfrm>
            <a:off x="10982325" y="24669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04</a:t>
            </a:r>
            <a:endParaRPr lang="en-US" sz="1800" dirty="0"/>
          </a:p>
        </p:txBody>
      </p:sp>
      <p:sp>
        <p:nvSpPr>
          <p:cNvPr id="18" name="Text 16"/>
          <p:cNvSpPr/>
          <p:nvPr/>
        </p:nvSpPr>
        <p:spPr>
          <a:xfrm>
            <a:off x="10982325" y="30682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Public Defender</a:t>
            </a:r>
            <a:endParaRPr lang="en-US" sz="1800" dirty="0"/>
          </a:p>
        </p:txBody>
      </p:sp>
      <p:sp>
        <p:nvSpPr>
          <p:cNvPr id="19" name="Shape 17"/>
          <p:cNvSpPr/>
          <p:nvPr/>
        </p:nvSpPr>
        <p:spPr>
          <a:xfrm>
            <a:off x="14068425" y="2295525"/>
            <a:ext cx="3257550" cy="1200150"/>
          </a:xfrm>
          <a:prstGeom prst="rect">
            <a:avLst/>
          </a:prstGeom>
          <a:solidFill>
            <a:srgbClr val="0E1520"/>
          </a:solidFill>
          <a:ln/>
        </p:spPr>
      </p:sp>
      <p:sp>
        <p:nvSpPr>
          <p:cNvPr id="20" name="Text 18"/>
          <p:cNvSpPr/>
          <p:nvPr/>
        </p:nvSpPr>
        <p:spPr>
          <a:xfrm>
            <a:off x="14258925" y="24669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05</a:t>
            </a:r>
            <a:endParaRPr lang="en-US" sz="1800" dirty="0"/>
          </a:p>
        </p:txBody>
      </p:sp>
      <p:sp>
        <p:nvSpPr>
          <p:cNvPr id="21" name="Text 19"/>
          <p:cNvSpPr/>
          <p:nvPr/>
        </p:nvSpPr>
        <p:spPr>
          <a:xfrm>
            <a:off x="14258925" y="30682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Immigration</a:t>
            </a:r>
            <a:endParaRPr lang="en-US" sz="1800" dirty="0"/>
          </a:p>
        </p:txBody>
      </p:sp>
      <p:sp>
        <p:nvSpPr>
          <p:cNvPr id="22" name="Shape 20"/>
          <p:cNvSpPr/>
          <p:nvPr/>
        </p:nvSpPr>
        <p:spPr>
          <a:xfrm>
            <a:off x="962025" y="3514725"/>
            <a:ext cx="3257550" cy="1200150"/>
          </a:xfrm>
          <a:prstGeom prst="rect">
            <a:avLst/>
          </a:prstGeom>
          <a:solidFill>
            <a:srgbClr val="0E1520"/>
          </a:solidFill>
          <a:ln/>
        </p:spPr>
      </p:sp>
      <p:sp>
        <p:nvSpPr>
          <p:cNvPr id="23" name="Text 21"/>
          <p:cNvSpPr/>
          <p:nvPr/>
        </p:nvSpPr>
        <p:spPr>
          <a:xfrm>
            <a:off x="1152525" y="36861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06</a:t>
            </a:r>
            <a:endParaRPr lang="en-US" sz="1800" dirty="0"/>
          </a:p>
        </p:txBody>
      </p:sp>
      <p:sp>
        <p:nvSpPr>
          <p:cNvPr id="24" name="Text 22"/>
          <p:cNvSpPr/>
          <p:nvPr/>
        </p:nvSpPr>
        <p:spPr>
          <a:xfrm>
            <a:off x="1152525" y="42874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Probation &amp; Reintegration</a:t>
            </a:r>
            <a:endParaRPr lang="en-US" sz="1800" dirty="0"/>
          </a:p>
        </p:txBody>
      </p:sp>
      <p:sp>
        <p:nvSpPr>
          <p:cNvPr id="25" name="Shape 23"/>
          <p:cNvSpPr/>
          <p:nvPr/>
        </p:nvSpPr>
        <p:spPr>
          <a:xfrm>
            <a:off x="4238625" y="3514725"/>
            <a:ext cx="3257550" cy="1200150"/>
          </a:xfrm>
          <a:prstGeom prst="rect">
            <a:avLst/>
          </a:prstGeom>
          <a:solidFill>
            <a:srgbClr val="0E1520"/>
          </a:solidFill>
          <a:ln/>
        </p:spPr>
      </p:sp>
      <p:sp>
        <p:nvSpPr>
          <p:cNvPr id="26" name="Text 24"/>
          <p:cNvSpPr/>
          <p:nvPr/>
        </p:nvSpPr>
        <p:spPr>
          <a:xfrm>
            <a:off x="4429125" y="36861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07</a:t>
            </a:r>
            <a:endParaRPr lang="en-US" sz="1800" dirty="0"/>
          </a:p>
        </p:txBody>
      </p:sp>
      <p:sp>
        <p:nvSpPr>
          <p:cNvPr id="27" name="Text 25"/>
          <p:cNvSpPr/>
          <p:nvPr/>
        </p:nvSpPr>
        <p:spPr>
          <a:xfrm>
            <a:off x="4429125" y="42874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Parent &amp; K–12 Education</a:t>
            </a:r>
            <a:endParaRPr lang="en-US" sz="1800" dirty="0"/>
          </a:p>
        </p:txBody>
      </p:sp>
      <p:sp>
        <p:nvSpPr>
          <p:cNvPr id="28" name="Shape 26"/>
          <p:cNvSpPr/>
          <p:nvPr/>
        </p:nvSpPr>
        <p:spPr>
          <a:xfrm>
            <a:off x="7515225" y="3514725"/>
            <a:ext cx="3257550" cy="1200150"/>
          </a:xfrm>
          <a:prstGeom prst="rect">
            <a:avLst/>
          </a:prstGeom>
          <a:solidFill>
            <a:srgbClr val="0E1520"/>
          </a:solidFill>
          <a:ln/>
        </p:spPr>
      </p:sp>
      <p:sp>
        <p:nvSpPr>
          <p:cNvPr id="29" name="Text 27"/>
          <p:cNvSpPr/>
          <p:nvPr/>
        </p:nvSpPr>
        <p:spPr>
          <a:xfrm>
            <a:off x="7705725" y="36861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08</a:t>
            </a:r>
            <a:endParaRPr lang="en-US" sz="1800" dirty="0"/>
          </a:p>
        </p:txBody>
      </p:sp>
      <p:sp>
        <p:nvSpPr>
          <p:cNvPr id="30" name="Text 28"/>
          <p:cNvSpPr/>
          <p:nvPr/>
        </p:nvSpPr>
        <p:spPr>
          <a:xfrm>
            <a:off x="7705725" y="42874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University &amp; Student</a:t>
            </a:r>
            <a:endParaRPr lang="en-US" sz="1800" dirty="0"/>
          </a:p>
        </p:txBody>
      </p:sp>
      <p:sp>
        <p:nvSpPr>
          <p:cNvPr id="31" name="Shape 29"/>
          <p:cNvSpPr/>
          <p:nvPr/>
        </p:nvSpPr>
        <p:spPr>
          <a:xfrm>
            <a:off x="10791825" y="3514725"/>
            <a:ext cx="3257550" cy="1200150"/>
          </a:xfrm>
          <a:prstGeom prst="rect">
            <a:avLst/>
          </a:prstGeom>
          <a:solidFill>
            <a:srgbClr val="0E1520"/>
          </a:solidFill>
          <a:ln/>
        </p:spPr>
      </p:sp>
      <p:sp>
        <p:nvSpPr>
          <p:cNvPr id="32" name="Text 30"/>
          <p:cNvSpPr/>
          <p:nvPr/>
        </p:nvSpPr>
        <p:spPr>
          <a:xfrm>
            <a:off x="10982325" y="36861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09</a:t>
            </a:r>
            <a:endParaRPr lang="en-US" sz="1800" dirty="0"/>
          </a:p>
        </p:txBody>
      </p:sp>
      <p:sp>
        <p:nvSpPr>
          <p:cNvPr id="33" name="Text 31"/>
          <p:cNvSpPr/>
          <p:nvPr/>
        </p:nvSpPr>
        <p:spPr>
          <a:xfrm>
            <a:off x="10982325" y="42874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Research &amp; Lab</a:t>
            </a:r>
            <a:endParaRPr lang="en-US" sz="1800" dirty="0"/>
          </a:p>
        </p:txBody>
      </p:sp>
      <p:sp>
        <p:nvSpPr>
          <p:cNvPr id="34" name="Shape 32"/>
          <p:cNvSpPr/>
          <p:nvPr/>
        </p:nvSpPr>
        <p:spPr>
          <a:xfrm>
            <a:off x="14068425" y="3514725"/>
            <a:ext cx="3257550" cy="1200150"/>
          </a:xfrm>
          <a:prstGeom prst="rect">
            <a:avLst/>
          </a:prstGeom>
          <a:solidFill>
            <a:srgbClr val="0E1520"/>
          </a:solidFill>
          <a:ln/>
        </p:spPr>
      </p:sp>
      <p:sp>
        <p:nvSpPr>
          <p:cNvPr id="35" name="Text 33"/>
          <p:cNvSpPr/>
          <p:nvPr/>
        </p:nvSpPr>
        <p:spPr>
          <a:xfrm>
            <a:off x="14258925" y="36861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10</a:t>
            </a:r>
            <a:endParaRPr lang="en-US" sz="1800" dirty="0"/>
          </a:p>
        </p:txBody>
      </p:sp>
      <p:sp>
        <p:nvSpPr>
          <p:cNvPr id="36" name="Text 34"/>
          <p:cNvSpPr/>
          <p:nvPr/>
        </p:nvSpPr>
        <p:spPr>
          <a:xfrm>
            <a:off x="14258925" y="4038600"/>
            <a:ext cx="2962847" cy="550069"/>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Unemployment &amp; Job Center</a:t>
            </a:r>
            <a:endParaRPr lang="en-US" sz="1800" dirty="0"/>
          </a:p>
        </p:txBody>
      </p:sp>
      <p:sp>
        <p:nvSpPr>
          <p:cNvPr id="37" name="Shape 35"/>
          <p:cNvSpPr/>
          <p:nvPr/>
        </p:nvSpPr>
        <p:spPr>
          <a:xfrm>
            <a:off x="962025" y="4733925"/>
            <a:ext cx="3257550" cy="1200150"/>
          </a:xfrm>
          <a:prstGeom prst="rect">
            <a:avLst/>
          </a:prstGeom>
          <a:solidFill>
            <a:srgbClr val="0E1520"/>
          </a:solidFill>
          <a:ln/>
        </p:spPr>
      </p:sp>
      <p:sp>
        <p:nvSpPr>
          <p:cNvPr id="38" name="Text 36"/>
          <p:cNvSpPr/>
          <p:nvPr/>
        </p:nvSpPr>
        <p:spPr>
          <a:xfrm>
            <a:off x="1152525" y="49053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11</a:t>
            </a:r>
            <a:endParaRPr lang="en-US" sz="1800" dirty="0"/>
          </a:p>
        </p:txBody>
      </p:sp>
      <p:sp>
        <p:nvSpPr>
          <p:cNvPr id="39" name="Text 37"/>
          <p:cNvSpPr/>
          <p:nvPr/>
        </p:nvSpPr>
        <p:spPr>
          <a:xfrm>
            <a:off x="1152525" y="55066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Corporate HR &amp; Workplace</a:t>
            </a:r>
            <a:endParaRPr lang="en-US" sz="1800" dirty="0"/>
          </a:p>
        </p:txBody>
      </p:sp>
      <p:sp>
        <p:nvSpPr>
          <p:cNvPr id="40" name="Shape 38"/>
          <p:cNvSpPr/>
          <p:nvPr/>
        </p:nvSpPr>
        <p:spPr>
          <a:xfrm>
            <a:off x="4238625" y="4733925"/>
            <a:ext cx="3257550" cy="1200150"/>
          </a:xfrm>
          <a:prstGeom prst="rect">
            <a:avLst/>
          </a:prstGeom>
          <a:solidFill>
            <a:srgbClr val="0E1520"/>
          </a:solidFill>
          <a:ln/>
        </p:spPr>
      </p:sp>
      <p:sp>
        <p:nvSpPr>
          <p:cNvPr id="41" name="Text 39"/>
          <p:cNvSpPr/>
          <p:nvPr/>
        </p:nvSpPr>
        <p:spPr>
          <a:xfrm>
            <a:off x="4429125" y="49053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12</a:t>
            </a:r>
            <a:endParaRPr lang="en-US" sz="1800" dirty="0"/>
          </a:p>
        </p:txBody>
      </p:sp>
      <p:sp>
        <p:nvSpPr>
          <p:cNvPr id="42" name="Text 40"/>
          <p:cNvSpPr/>
          <p:nvPr/>
        </p:nvSpPr>
        <p:spPr>
          <a:xfrm>
            <a:off x="4429125" y="55066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Small Business &amp; Licensing</a:t>
            </a:r>
            <a:endParaRPr lang="en-US" sz="1800" dirty="0"/>
          </a:p>
        </p:txBody>
      </p:sp>
      <p:sp>
        <p:nvSpPr>
          <p:cNvPr id="43" name="Shape 41"/>
          <p:cNvSpPr/>
          <p:nvPr/>
        </p:nvSpPr>
        <p:spPr>
          <a:xfrm>
            <a:off x="7515225" y="4733925"/>
            <a:ext cx="3257550" cy="1200150"/>
          </a:xfrm>
          <a:prstGeom prst="rect">
            <a:avLst/>
          </a:prstGeom>
          <a:solidFill>
            <a:srgbClr val="0E1520"/>
          </a:solidFill>
          <a:ln/>
        </p:spPr>
      </p:sp>
      <p:sp>
        <p:nvSpPr>
          <p:cNvPr id="44" name="Text 42"/>
          <p:cNvSpPr/>
          <p:nvPr/>
        </p:nvSpPr>
        <p:spPr>
          <a:xfrm>
            <a:off x="7705725" y="49053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13</a:t>
            </a:r>
            <a:endParaRPr lang="en-US" sz="1800" dirty="0"/>
          </a:p>
        </p:txBody>
      </p:sp>
      <p:sp>
        <p:nvSpPr>
          <p:cNvPr id="45" name="Text 43"/>
          <p:cNvSpPr/>
          <p:nvPr/>
        </p:nvSpPr>
        <p:spPr>
          <a:xfrm>
            <a:off x="7705725" y="55066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Financial &amp; Credit</a:t>
            </a:r>
            <a:endParaRPr lang="en-US" sz="1800" dirty="0"/>
          </a:p>
        </p:txBody>
      </p:sp>
      <p:sp>
        <p:nvSpPr>
          <p:cNvPr id="46" name="Shape 44"/>
          <p:cNvSpPr/>
          <p:nvPr/>
        </p:nvSpPr>
        <p:spPr>
          <a:xfrm>
            <a:off x="10791825" y="4733925"/>
            <a:ext cx="3257550" cy="1200150"/>
          </a:xfrm>
          <a:prstGeom prst="rect">
            <a:avLst/>
          </a:prstGeom>
          <a:solidFill>
            <a:srgbClr val="0E1520"/>
          </a:solidFill>
          <a:ln/>
        </p:spPr>
      </p:sp>
      <p:sp>
        <p:nvSpPr>
          <p:cNvPr id="47" name="Text 45"/>
          <p:cNvSpPr/>
          <p:nvPr/>
        </p:nvSpPr>
        <p:spPr>
          <a:xfrm>
            <a:off x="10982325" y="49053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14</a:t>
            </a:r>
            <a:endParaRPr lang="en-US" sz="1800" dirty="0"/>
          </a:p>
        </p:txBody>
      </p:sp>
      <p:sp>
        <p:nvSpPr>
          <p:cNvPr id="48" name="Text 46"/>
          <p:cNvSpPr/>
          <p:nvPr/>
        </p:nvSpPr>
        <p:spPr>
          <a:xfrm>
            <a:off x="10982325" y="55066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Medicaid &amp; Medicare</a:t>
            </a:r>
            <a:endParaRPr lang="en-US" sz="1800" dirty="0"/>
          </a:p>
        </p:txBody>
      </p:sp>
      <p:sp>
        <p:nvSpPr>
          <p:cNvPr id="49" name="Shape 47"/>
          <p:cNvSpPr/>
          <p:nvPr/>
        </p:nvSpPr>
        <p:spPr>
          <a:xfrm>
            <a:off x="14068425" y="4733925"/>
            <a:ext cx="3257550" cy="1200150"/>
          </a:xfrm>
          <a:prstGeom prst="rect">
            <a:avLst/>
          </a:prstGeom>
          <a:solidFill>
            <a:srgbClr val="0E1520"/>
          </a:solidFill>
          <a:ln/>
        </p:spPr>
      </p:sp>
      <p:sp>
        <p:nvSpPr>
          <p:cNvPr id="50" name="Text 48"/>
          <p:cNvSpPr/>
          <p:nvPr/>
        </p:nvSpPr>
        <p:spPr>
          <a:xfrm>
            <a:off x="14258925" y="49053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15</a:t>
            </a:r>
            <a:endParaRPr lang="en-US" sz="1800" dirty="0"/>
          </a:p>
        </p:txBody>
      </p:sp>
      <p:sp>
        <p:nvSpPr>
          <p:cNvPr id="51" name="Text 49"/>
          <p:cNvSpPr/>
          <p:nvPr/>
        </p:nvSpPr>
        <p:spPr>
          <a:xfrm>
            <a:off x="14258925" y="55066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Elder Care</a:t>
            </a:r>
            <a:endParaRPr lang="en-US" sz="1800" dirty="0"/>
          </a:p>
        </p:txBody>
      </p:sp>
      <p:sp>
        <p:nvSpPr>
          <p:cNvPr id="52" name="Shape 50"/>
          <p:cNvSpPr/>
          <p:nvPr/>
        </p:nvSpPr>
        <p:spPr>
          <a:xfrm>
            <a:off x="962025" y="5953125"/>
            <a:ext cx="3257550" cy="1200150"/>
          </a:xfrm>
          <a:prstGeom prst="rect">
            <a:avLst/>
          </a:prstGeom>
          <a:solidFill>
            <a:srgbClr val="0E1520"/>
          </a:solidFill>
          <a:ln/>
        </p:spPr>
      </p:sp>
      <p:sp>
        <p:nvSpPr>
          <p:cNvPr id="53" name="Text 51"/>
          <p:cNvSpPr/>
          <p:nvPr/>
        </p:nvSpPr>
        <p:spPr>
          <a:xfrm>
            <a:off x="1152525" y="61245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16</a:t>
            </a:r>
            <a:endParaRPr lang="en-US" sz="1800" dirty="0"/>
          </a:p>
        </p:txBody>
      </p:sp>
      <p:sp>
        <p:nvSpPr>
          <p:cNvPr id="54" name="Text 52"/>
          <p:cNvSpPr/>
          <p:nvPr/>
        </p:nvSpPr>
        <p:spPr>
          <a:xfrm>
            <a:off x="1152525" y="67258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Disability &amp; Accessibility</a:t>
            </a:r>
            <a:endParaRPr lang="en-US" sz="1800" dirty="0"/>
          </a:p>
        </p:txBody>
      </p:sp>
      <p:sp>
        <p:nvSpPr>
          <p:cNvPr id="55" name="Shape 53"/>
          <p:cNvSpPr/>
          <p:nvPr/>
        </p:nvSpPr>
        <p:spPr>
          <a:xfrm>
            <a:off x="4238625" y="5953125"/>
            <a:ext cx="3257550" cy="1200150"/>
          </a:xfrm>
          <a:prstGeom prst="rect">
            <a:avLst/>
          </a:prstGeom>
          <a:solidFill>
            <a:srgbClr val="182334"/>
          </a:solidFill>
          <a:ln/>
        </p:spPr>
      </p:sp>
      <p:sp>
        <p:nvSpPr>
          <p:cNvPr id="56" name="Text 54"/>
          <p:cNvSpPr/>
          <p:nvPr/>
        </p:nvSpPr>
        <p:spPr>
          <a:xfrm>
            <a:off x="4429125" y="61245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17</a:t>
            </a:r>
            <a:endParaRPr lang="en-US" sz="1800" dirty="0"/>
          </a:p>
        </p:txBody>
      </p:sp>
      <p:sp>
        <p:nvSpPr>
          <p:cNvPr id="57" name="Text 55"/>
          <p:cNvSpPr/>
          <p:nvPr/>
        </p:nvSpPr>
        <p:spPr>
          <a:xfrm>
            <a:off x="4429125" y="67258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i="1" dirty="0">
                <a:solidFill>
                  <a:srgbClr val="E8B04B"/>
                </a:solidFill>
                <a:latin typeface="Georgia" pitchFamily="34" charset="0"/>
                <a:ea typeface="Georgia" pitchFamily="34" charset="-122"/>
                <a:cs typeface="Georgia" pitchFamily="34" charset="-120"/>
              </a:rPr>
              <a:t>Housing &amp; Tenant</a:t>
            </a:r>
            <a:endParaRPr lang="en-US" sz="1800" dirty="0"/>
          </a:p>
        </p:txBody>
      </p:sp>
      <p:sp>
        <p:nvSpPr>
          <p:cNvPr id="58" name="Shape 56"/>
          <p:cNvSpPr/>
          <p:nvPr/>
        </p:nvSpPr>
        <p:spPr>
          <a:xfrm>
            <a:off x="7515225" y="5953125"/>
            <a:ext cx="3257550" cy="1200150"/>
          </a:xfrm>
          <a:prstGeom prst="rect">
            <a:avLst/>
          </a:prstGeom>
          <a:solidFill>
            <a:srgbClr val="0E1520"/>
          </a:solidFill>
          <a:ln/>
        </p:spPr>
      </p:sp>
      <p:sp>
        <p:nvSpPr>
          <p:cNvPr id="59" name="Text 57"/>
          <p:cNvSpPr/>
          <p:nvPr/>
        </p:nvSpPr>
        <p:spPr>
          <a:xfrm>
            <a:off x="7705725" y="61245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18</a:t>
            </a:r>
            <a:endParaRPr lang="en-US" sz="1800" dirty="0"/>
          </a:p>
        </p:txBody>
      </p:sp>
      <p:sp>
        <p:nvSpPr>
          <p:cNvPr id="60" name="Text 58"/>
          <p:cNvSpPr/>
          <p:nvPr/>
        </p:nvSpPr>
        <p:spPr>
          <a:xfrm>
            <a:off x="7705725" y="67258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Public Utilities</a:t>
            </a:r>
            <a:endParaRPr lang="en-US" sz="1800" dirty="0"/>
          </a:p>
        </p:txBody>
      </p:sp>
      <p:sp>
        <p:nvSpPr>
          <p:cNvPr id="61" name="Shape 59"/>
          <p:cNvSpPr/>
          <p:nvPr/>
        </p:nvSpPr>
        <p:spPr>
          <a:xfrm>
            <a:off x="10791825" y="5953125"/>
            <a:ext cx="3257550" cy="1200150"/>
          </a:xfrm>
          <a:prstGeom prst="rect">
            <a:avLst/>
          </a:prstGeom>
          <a:solidFill>
            <a:srgbClr val="0E1520"/>
          </a:solidFill>
          <a:ln/>
        </p:spPr>
      </p:sp>
      <p:sp>
        <p:nvSpPr>
          <p:cNvPr id="62" name="Text 60"/>
          <p:cNvSpPr/>
          <p:nvPr/>
        </p:nvSpPr>
        <p:spPr>
          <a:xfrm>
            <a:off x="10982325" y="61245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19</a:t>
            </a:r>
            <a:endParaRPr lang="en-US" sz="1800" dirty="0"/>
          </a:p>
        </p:txBody>
      </p:sp>
      <p:sp>
        <p:nvSpPr>
          <p:cNvPr id="63" name="Text 61"/>
          <p:cNvSpPr/>
          <p:nvPr/>
        </p:nvSpPr>
        <p:spPr>
          <a:xfrm>
            <a:off x="10982325" y="67258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Building &amp; Zoning</a:t>
            </a:r>
            <a:endParaRPr lang="en-US" sz="1800" dirty="0"/>
          </a:p>
        </p:txBody>
      </p:sp>
      <p:sp>
        <p:nvSpPr>
          <p:cNvPr id="64" name="Shape 62"/>
          <p:cNvSpPr/>
          <p:nvPr/>
        </p:nvSpPr>
        <p:spPr>
          <a:xfrm>
            <a:off x="14068425" y="5953125"/>
            <a:ext cx="3257550" cy="1200150"/>
          </a:xfrm>
          <a:prstGeom prst="rect">
            <a:avLst/>
          </a:prstGeom>
          <a:solidFill>
            <a:srgbClr val="0E1520"/>
          </a:solidFill>
          <a:ln/>
        </p:spPr>
      </p:sp>
      <p:sp>
        <p:nvSpPr>
          <p:cNvPr id="65" name="Text 63"/>
          <p:cNvSpPr/>
          <p:nvPr/>
        </p:nvSpPr>
        <p:spPr>
          <a:xfrm>
            <a:off x="14258925" y="61245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20</a:t>
            </a:r>
            <a:endParaRPr lang="en-US" sz="1800" dirty="0"/>
          </a:p>
        </p:txBody>
      </p:sp>
      <p:sp>
        <p:nvSpPr>
          <p:cNvPr id="66" name="Text 64"/>
          <p:cNvSpPr/>
          <p:nvPr/>
        </p:nvSpPr>
        <p:spPr>
          <a:xfrm>
            <a:off x="14258925" y="67258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Transportation &amp; Traveler</a:t>
            </a:r>
            <a:endParaRPr lang="en-US" sz="1800" dirty="0"/>
          </a:p>
        </p:txBody>
      </p:sp>
      <p:sp>
        <p:nvSpPr>
          <p:cNvPr id="67" name="Shape 65"/>
          <p:cNvSpPr/>
          <p:nvPr/>
        </p:nvSpPr>
        <p:spPr>
          <a:xfrm>
            <a:off x="962025" y="7172325"/>
            <a:ext cx="3257550" cy="1200150"/>
          </a:xfrm>
          <a:prstGeom prst="rect">
            <a:avLst/>
          </a:prstGeom>
          <a:solidFill>
            <a:srgbClr val="0E1520"/>
          </a:solidFill>
          <a:ln/>
        </p:spPr>
      </p:sp>
      <p:sp>
        <p:nvSpPr>
          <p:cNvPr id="68" name="Text 66"/>
          <p:cNvSpPr/>
          <p:nvPr/>
        </p:nvSpPr>
        <p:spPr>
          <a:xfrm>
            <a:off x="1152525" y="73437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21</a:t>
            </a:r>
            <a:endParaRPr lang="en-US" sz="1800" dirty="0"/>
          </a:p>
        </p:txBody>
      </p:sp>
      <p:sp>
        <p:nvSpPr>
          <p:cNvPr id="69" name="Text 67"/>
          <p:cNvSpPr/>
          <p:nvPr/>
        </p:nvSpPr>
        <p:spPr>
          <a:xfrm>
            <a:off x="1152525" y="79450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Refugee &amp; Humanitarian</a:t>
            </a:r>
            <a:endParaRPr lang="en-US" sz="1800" dirty="0"/>
          </a:p>
        </p:txBody>
      </p:sp>
      <p:sp>
        <p:nvSpPr>
          <p:cNvPr id="70" name="Shape 68"/>
          <p:cNvSpPr/>
          <p:nvPr/>
        </p:nvSpPr>
        <p:spPr>
          <a:xfrm>
            <a:off x="4238625" y="7172325"/>
            <a:ext cx="3257550" cy="1200150"/>
          </a:xfrm>
          <a:prstGeom prst="rect">
            <a:avLst/>
          </a:prstGeom>
          <a:solidFill>
            <a:srgbClr val="0E1520"/>
          </a:solidFill>
          <a:ln/>
        </p:spPr>
      </p:sp>
      <p:sp>
        <p:nvSpPr>
          <p:cNvPr id="71" name="Text 69"/>
          <p:cNvSpPr/>
          <p:nvPr/>
        </p:nvSpPr>
        <p:spPr>
          <a:xfrm>
            <a:off x="4429125" y="73437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22</a:t>
            </a:r>
            <a:endParaRPr lang="en-US" sz="1800" dirty="0"/>
          </a:p>
        </p:txBody>
      </p:sp>
      <p:sp>
        <p:nvSpPr>
          <p:cNvPr id="72" name="Text 70"/>
          <p:cNvSpPr/>
          <p:nvPr/>
        </p:nvSpPr>
        <p:spPr>
          <a:xfrm>
            <a:off x="4429125" y="79450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Indigenous Services</a:t>
            </a:r>
            <a:endParaRPr lang="en-US" sz="1800" dirty="0"/>
          </a:p>
        </p:txBody>
      </p:sp>
      <p:sp>
        <p:nvSpPr>
          <p:cNvPr id="73" name="Shape 71"/>
          <p:cNvSpPr/>
          <p:nvPr/>
        </p:nvSpPr>
        <p:spPr>
          <a:xfrm>
            <a:off x="7515225" y="7172325"/>
            <a:ext cx="3257550" cy="1200150"/>
          </a:xfrm>
          <a:prstGeom prst="rect">
            <a:avLst/>
          </a:prstGeom>
          <a:solidFill>
            <a:srgbClr val="0E1520"/>
          </a:solidFill>
          <a:ln/>
        </p:spPr>
      </p:sp>
      <p:sp>
        <p:nvSpPr>
          <p:cNvPr id="74" name="Text 72"/>
          <p:cNvSpPr/>
          <p:nvPr/>
        </p:nvSpPr>
        <p:spPr>
          <a:xfrm>
            <a:off x="7705725" y="73437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23</a:t>
            </a:r>
            <a:endParaRPr lang="en-US" sz="1800" dirty="0"/>
          </a:p>
        </p:txBody>
      </p:sp>
      <p:sp>
        <p:nvSpPr>
          <p:cNvPr id="75" name="Text 73"/>
          <p:cNvSpPr/>
          <p:nvPr/>
        </p:nvSpPr>
        <p:spPr>
          <a:xfrm>
            <a:off x="7705725" y="79450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Homeless &amp; Street</a:t>
            </a:r>
            <a:endParaRPr lang="en-US" sz="1800" dirty="0"/>
          </a:p>
        </p:txBody>
      </p:sp>
      <p:sp>
        <p:nvSpPr>
          <p:cNvPr id="76" name="Shape 74"/>
          <p:cNvSpPr/>
          <p:nvPr/>
        </p:nvSpPr>
        <p:spPr>
          <a:xfrm>
            <a:off x="10791825" y="7172325"/>
            <a:ext cx="3257550" cy="1200150"/>
          </a:xfrm>
          <a:prstGeom prst="rect">
            <a:avLst/>
          </a:prstGeom>
          <a:solidFill>
            <a:srgbClr val="0E1520"/>
          </a:solidFill>
          <a:ln/>
        </p:spPr>
      </p:sp>
      <p:sp>
        <p:nvSpPr>
          <p:cNvPr id="77" name="Text 75"/>
          <p:cNvSpPr/>
          <p:nvPr/>
        </p:nvSpPr>
        <p:spPr>
          <a:xfrm>
            <a:off x="10982325" y="73437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24</a:t>
            </a:r>
            <a:endParaRPr lang="en-US" sz="1800" dirty="0"/>
          </a:p>
        </p:txBody>
      </p:sp>
      <p:sp>
        <p:nvSpPr>
          <p:cNvPr id="78" name="Text 76"/>
          <p:cNvSpPr/>
          <p:nvPr/>
        </p:nvSpPr>
        <p:spPr>
          <a:xfrm>
            <a:off x="10982325" y="79450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Reentry &amp; Ex-Incarcerated</a:t>
            </a:r>
            <a:endParaRPr lang="en-US" sz="1800" dirty="0"/>
          </a:p>
        </p:txBody>
      </p:sp>
      <p:sp>
        <p:nvSpPr>
          <p:cNvPr id="79" name="Shape 77"/>
          <p:cNvSpPr/>
          <p:nvPr/>
        </p:nvSpPr>
        <p:spPr>
          <a:xfrm>
            <a:off x="14068425" y="7172325"/>
            <a:ext cx="3257550" cy="1200150"/>
          </a:xfrm>
          <a:prstGeom prst="rect">
            <a:avLst/>
          </a:prstGeom>
          <a:solidFill>
            <a:srgbClr val="0E1520"/>
          </a:solidFill>
          <a:ln/>
        </p:spPr>
      </p:sp>
      <p:sp>
        <p:nvSpPr>
          <p:cNvPr id="80" name="Text 78"/>
          <p:cNvSpPr/>
          <p:nvPr/>
        </p:nvSpPr>
        <p:spPr>
          <a:xfrm>
            <a:off x="14258925" y="73437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25</a:t>
            </a:r>
            <a:endParaRPr lang="en-US" sz="1800" dirty="0"/>
          </a:p>
        </p:txBody>
      </p:sp>
      <p:sp>
        <p:nvSpPr>
          <p:cNvPr id="81" name="Text 79"/>
          <p:cNvSpPr/>
          <p:nvPr/>
        </p:nvSpPr>
        <p:spPr>
          <a:xfrm>
            <a:off x="14258925" y="79450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Insurance</a:t>
            </a:r>
            <a:endParaRPr lang="en-US" sz="1800" dirty="0"/>
          </a:p>
        </p:txBody>
      </p:sp>
      <p:sp>
        <p:nvSpPr>
          <p:cNvPr id="82" name="Shape 80"/>
          <p:cNvSpPr/>
          <p:nvPr/>
        </p:nvSpPr>
        <p:spPr>
          <a:xfrm>
            <a:off x="962025" y="8391525"/>
            <a:ext cx="3257550" cy="1200150"/>
          </a:xfrm>
          <a:prstGeom prst="rect">
            <a:avLst/>
          </a:prstGeom>
          <a:solidFill>
            <a:srgbClr val="0E1520"/>
          </a:solidFill>
          <a:ln/>
        </p:spPr>
      </p:sp>
      <p:sp>
        <p:nvSpPr>
          <p:cNvPr id="83" name="Text 81"/>
          <p:cNvSpPr/>
          <p:nvPr/>
        </p:nvSpPr>
        <p:spPr>
          <a:xfrm>
            <a:off x="1152525" y="85629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26</a:t>
            </a:r>
            <a:endParaRPr lang="en-US" sz="1800" dirty="0"/>
          </a:p>
        </p:txBody>
      </p:sp>
      <p:sp>
        <p:nvSpPr>
          <p:cNvPr id="84" name="Text 82"/>
          <p:cNvSpPr/>
          <p:nvPr/>
        </p:nvSpPr>
        <p:spPr>
          <a:xfrm>
            <a:off x="1152525" y="91642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Pharmacy &amp; Medication</a:t>
            </a:r>
            <a:endParaRPr lang="en-US" sz="1800" dirty="0"/>
          </a:p>
        </p:txBody>
      </p:sp>
      <p:sp>
        <p:nvSpPr>
          <p:cNvPr id="85" name="Shape 83"/>
          <p:cNvSpPr/>
          <p:nvPr/>
        </p:nvSpPr>
        <p:spPr>
          <a:xfrm>
            <a:off x="4238625" y="8391525"/>
            <a:ext cx="3257550" cy="1200150"/>
          </a:xfrm>
          <a:prstGeom prst="rect">
            <a:avLst/>
          </a:prstGeom>
          <a:solidFill>
            <a:srgbClr val="0E1520"/>
          </a:solidFill>
          <a:ln/>
        </p:spPr>
      </p:sp>
      <p:sp>
        <p:nvSpPr>
          <p:cNvPr id="86" name="Text 84"/>
          <p:cNvSpPr/>
          <p:nvPr/>
        </p:nvSpPr>
        <p:spPr>
          <a:xfrm>
            <a:off x="4429125" y="85629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27</a:t>
            </a:r>
            <a:endParaRPr lang="en-US" sz="1800" dirty="0"/>
          </a:p>
        </p:txBody>
      </p:sp>
      <p:sp>
        <p:nvSpPr>
          <p:cNvPr id="87" name="Text 85"/>
          <p:cNvSpPr/>
          <p:nvPr/>
        </p:nvSpPr>
        <p:spPr>
          <a:xfrm>
            <a:off x="4429125" y="91642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Clinical Trial</a:t>
            </a:r>
            <a:endParaRPr lang="en-US" sz="1800" dirty="0"/>
          </a:p>
        </p:txBody>
      </p:sp>
      <p:sp>
        <p:nvSpPr>
          <p:cNvPr id="88" name="Shape 86"/>
          <p:cNvSpPr/>
          <p:nvPr/>
        </p:nvSpPr>
        <p:spPr>
          <a:xfrm>
            <a:off x="7515225" y="8391525"/>
            <a:ext cx="3257550" cy="1200150"/>
          </a:xfrm>
          <a:prstGeom prst="rect">
            <a:avLst/>
          </a:prstGeom>
          <a:solidFill>
            <a:srgbClr val="0E1520"/>
          </a:solidFill>
          <a:ln/>
        </p:spPr>
      </p:sp>
      <p:sp>
        <p:nvSpPr>
          <p:cNvPr id="89" name="Text 87"/>
          <p:cNvSpPr/>
          <p:nvPr/>
        </p:nvSpPr>
        <p:spPr>
          <a:xfrm>
            <a:off x="7705725" y="8562975"/>
            <a:ext cx="2962847" cy="2952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A6656"/>
                </a:solidFill>
                <a:latin typeface="Courier New" pitchFamily="34" charset="0"/>
                <a:ea typeface="Courier New" pitchFamily="34" charset="-122"/>
                <a:cs typeface="Courier New" pitchFamily="34" charset="-120"/>
              </a:rPr>
              <a:t>28</a:t>
            </a:r>
            <a:endParaRPr lang="en-US" sz="1800" dirty="0"/>
          </a:p>
        </p:txBody>
      </p:sp>
      <p:sp>
        <p:nvSpPr>
          <p:cNvPr id="90" name="Text 88"/>
          <p:cNvSpPr/>
          <p:nvPr/>
        </p:nvSpPr>
        <p:spPr>
          <a:xfrm>
            <a:off x="7705725" y="9164241"/>
            <a:ext cx="2962847" cy="294084"/>
          </a:xfrm>
          <a:prstGeom prst="rect">
            <a:avLst/>
          </a:prstGeom>
          <a:noFill/>
          <a:ln/>
        </p:spPr>
        <p:txBody>
          <a:bodyPr wrap="square" lIns="25400" tIns="25400" rIns="25400" bIns="25400" rtlCol="0" anchor="t">
            <a:normAutofit/>
          </a:bodyPr>
          <a:lstStyle/>
          <a:p>
            <a:pPr algn="l" indent="0" marL="0">
              <a:lnSpc>
                <a:spcPct val="112000"/>
              </a:lnSpc>
              <a:buNone/>
            </a:pPr>
            <a:r>
              <a:rPr lang="en-US" sz="1800" dirty="0">
                <a:solidFill>
                  <a:srgbClr val="E8E4D8"/>
                </a:solidFill>
                <a:latin typeface="Georgia" pitchFamily="34" charset="0"/>
                <a:ea typeface="Georgia" pitchFamily="34" charset="-122"/>
                <a:cs typeface="Georgia" pitchFamily="34" charset="-120"/>
              </a:rPr>
              <a:t>Municipal &amp; Civic</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12 / 16</a:t>
            </a:r>
            <a:endParaRPr lang="en-US" sz="1800" dirty="0"/>
          </a:p>
        </p:txBody>
      </p:sp>
      <p:sp>
        <p:nvSpPr>
          <p:cNvPr id="4" name="Text 2"/>
          <p:cNvSpPr/>
          <p:nvPr/>
        </p:nvSpPr>
        <p:spPr>
          <a:xfrm>
            <a:off x="952500" y="1485900"/>
            <a:ext cx="16874490"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B04B"/>
                </a:solidFill>
                <a:latin typeface="Courier New" pitchFamily="34" charset="0"/>
                <a:ea typeface="Courier New" pitchFamily="34" charset="-122"/>
                <a:cs typeface="Courier New" pitchFamily="34" charset="-120"/>
              </a:rPr>
              <a:t>THE PLATFORM</a:t>
            </a:r>
            <a:endParaRPr lang="en-US" sz="1800" dirty="0"/>
          </a:p>
        </p:txBody>
      </p:sp>
      <p:sp>
        <p:nvSpPr>
          <p:cNvPr id="5" name="Text 3"/>
          <p:cNvSpPr/>
          <p:nvPr/>
        </p:nvSpPr>
        <p:spPr>
          <a:xfrm>
            <a:off x="952500" y="2009775"/>
            <a:ext cx="16874490" cy="737592"/>
          </a:xfrm>
          <a:prstGeom prst="rect">
            <a:avLst/>
          </a:prstGeom>
          <a:noFill/>
          <a:ln/>
        </p:spPr>
        <p:txBody>
          <a:bodyPr wrap="square" lIns="25400" tIns="25400" rIns="25400" bIns="25400" rtlCol="0" anchor="t">
            <a:normAutofit/>
          </a:bodyPr>
          <a:lstStyle/>
          <a:p>
            <a:pPr algn="l" indent="0" marL="0">
              <a:lnSpc>
                <a:spcPct val="102000"/>
              </a:lnSpc>
              <a:buNone/>
            </a:pPr>
            <a:r>
              <a:rPr lang="en-US" sz="5400" spc="-65" kern="0" dirty="0">
                <a:solidFill>
                  <a:srgbClr val="E8E4D8"/>
                </a:solidFill>
                <a:latin typeface="Georgia" pitchFamily="34" charset="0"/>
                <a:ea typeface="Georgia" pitchFamily="34" charset="-122"/>
                <a:cs typeface="Georgia" pitchFamily="34" charset="-120"/>
              </a:rPr>
              <a:t>Built once. </a:t>
            </a:r>
            <a:pPr algn="l" indent="0" marL="0">
              <a:lnSpc>
                <a:spcPct val="102000"/>
              </a:lnSpc>
              <a:buNone/>
            </a:pPr>
            <a:r>
              <a:rPr lang="en-US" sz="5400" i="1" spc="-65" kern="0" dirty="0">
                <a:solidFill>
                  <a:srgbClr val="E8B04B"/>
                </a:solidFill>
                <a:latin typeface="Georgia" pitchFamily="34" charset="0"/>
                <a:ea typeface="Georgia" pitchFamily="34" charset="-122"/>
                <a:cs typeface="Georgia" pitchFamily="34" charset="-120"/>
              </a:rPr>
              <a:t>Configured for each domain.</a:t>
            </a:r>
            <a:endParaRPr lang="en-US" sz="5400" dirty="0"/>
          </a:p>
        </p:txBody>
      </p:sp>
      <p:sp>
        <p:nvSpPr>
          <p:cNvPr id="6" name="Text 4"/>
          <p:cNvSpPr/>
          <p:nvPr/>
        </p:nvSpPr>
        <p:spPr>
          <a:xfrm>
            <a:off x="952500" y="2861667"/>
            <a:ext cx="15697200" cy="828229"/>
          </a:xfrm>
          <a:prstGeom prst="rect">
            <a:avLst/>
          </a:prstGeom>
          <a:noFill/>
          <a:ln/>
        </p:spPr>
        <p:txBody>
          <a:bodyPr wrap="square" lIns="25400" tIns="25400" rIns="25400" bIns="25400" rtlCol="0" anchor="t">
            <a:normAutofit/>
          </a:bodyPr>
          <a:lstStyle/>
          <a:p>
            <a:pPr algn="l" indent="0" marL="0">
              <a:lnSpc>
                <a:spcPct val="122000"/>
              </a:lnSpc>
              <a:buNone/>
            </a:pPr>
            <a:r>
              <a:rPr lang="en-US" sz="2550" dirty="0">
                <a:solidFill>
                  <a:srgbClr val="A8A394"/>
                </a:solidFill>
                <a:latin typeface="Georgia" pitchFamily="34" charset="0"/>
                <a:ea typeface="Georgia" pitchFamily="34" charset="-122"/>
                <a:cs typeface="Georgia" pitchFamily="34" charset="-120"/>
              </a:rPr>
              <a:t>The architecture is the same everywhere. A new domain is a configuration problem, not an engineering project.</a:t>
            </a:r>
            <a:endParaRPr lang="en-US" sz="2550" dirty="0"/>
          </a:p>
        </p:txBody>
      </p:sp>
      <p:sp>
        <p:nvSpPr>
          <p:cNvPr id="7" name="Shape 5"/>
          <p:cNvSpPr/>
          <p:nvPr/>
        </p:nvSpPr>
        <p:spPr>
          <a:xfrm>
            <a:off x="952500" y="4032796"/>
            <a:ext cx="5232350" cy="9525"/>
          </a:xfrm>
          <a:prstGeom prst="rect">
            <a:avLst/>
          </a:prstGeom>
          <a:solidFill>
            <a:srgbClr val="2A3344"/>
          </a:solidFill>
          <a:ln/>
        </p:spPr>
      </p:sp>
      <p:sp>
        <p:nvSpPr>
          <p:cNvPr id="8" name="Text 6"/>
          <p:cNvSpPr/>
          <p:nvPr/>
        </p:nvSpPr>
        <p:spPr>
          <a:xfrm>
            <a:off x="952500" y="4270921"/>
            <a:ext cx="5389321"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01 — LANGUAGE</a:t>
            </a:r>
            <a:endParaRPr lang="en-US" sz="1800" dirty="0"/>
          </a:p>
        </p:txBody>
      </p:sp>
      <p:sp>
        <p:nvSpPr>
          <p:cNvPr id="9" name="Text 7"/>
          <p:cNvSpPr/>
          <p:nvPr/>
        </p:nvSpPr>
        <p:spPr>
          <a:xfrm>
            <a:off x="952500" y="4661446"/>
            <a:ext cx="5389321" cy="387846"/>
          </a:xfrm>
          <a:prstGeom prst="rect">
            <a:avLst/>
          </a:prstGeom>
          <a:noFill/>
          <a:ln/>
        </p:spPr>
        <p:txBody>
          <a:bodyPr wrap="square" lIns="25400" tIns="25400" rIns="25400" bIns="25400" rtlCol="0" anchor="t">
            <a:normAutofit/>
          </a:bodyPr>
          <a:lstStyle/>
          <a:p>
            <a:pPr algn="l" indent="0" marL="0">
              <a:lnSpc>
                <a:spcPct val="108000"/>
              </a:lnSpc>
              <a:buNone/>
            </a:pPr>
            <a:r>
              <a:rPr lang="en-US" sz="2550" dirty="0">
                <a:solidFill>
                  <a:srgbClr val="E8E4D8"/>
                </a:solidFill>
                <a:latin typeface="Georgia" pitchFamily="34" charset="0"/>
                <a:ea typeface="Georgia" pitchFamily="34" charset="-122"/>
                <a:cs typeface="Georgia" pitchFamily="34" charset="-120"/>
              </a:rPr>
              <a:t>Plain-language explanation</a:t>
            </a:r>
            <a:endParaRPr lang="en-US" sz="2550" dirty="0"/>
          </a:p>
        </p:txBody>
      </p:sp>
      <p:sp>
        <p:nvSpPr>
          <p:cNvPr id="10" name="Text 8"/>
          <p:cNvSpPr/>
          <p:nvPr/>
        </p:nvSpPr>
        <p:spPr>
          <a:xfrm>
            <a:off x="952500" y="5144542"/>
            <a:ext cx="5389321"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A8A394"/>
                </a:solidFill>
                <a:latin typeface="-apple-system" pitchFamily="34" charset="0"/>
                <a:ea typeface="-apple-system" pitchFamily="34" charset="-122"/>
                <a:cs typeface="-apple-system" pitchFamily="34" charset="-120"/>
              </a:rPr>
              <a:t>Translates policy, jargon, and legal text into local, spoken language — at the reading level of the user.</a:t>
            </a:r>
            <a:endParaRPr lang="en-US" sz="1950" dirty="0"/>
          </a:p>
        </p:txBody>
      </p:sp>
      <p:sp>
        <p:nvSpPr>
          <p:cNvPr id="11" name="Shape 9"/>
          <p:cNvSpPr/>
          <p:nvPr/>
        </p:nvSpPr>
        <p:spPr>
          <a:xfrm>
            <a:off x="6527750" y="4032796"/>
            <a:ext cx="5232425" cy="9525"/>
          </a:xfrm>
          <a:prstGeom prst="rect">
            <a:avLst/>
          </a:prstGeom>
          <a:solidFill>
            <a:srgbClr val="2A3344"/>
          </a:solidFill>
          <a:ln/>
        </p:spPr>
      </p:sp>
      <p:sp>
        <p:nvSpPr>
          <p:cNvPr id="12" name="Text 10"/>
          <p:cNvSpPr/>
          <p:nvPr/>
        </p:nvSpPr>
        <p:spPr>
          <a:xfrm>
            <a:off x="6527750" y="4270921"/>
            <a:ext cx="5389398"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02 — ACCESS</a:t>
            </a:r>
            <a:endParaRPr lang="en-US" sz="1800" dirty="0"/>
          </a:p>
        </p:txBody>
      </p:sp>
      <p:sp>
        <p:nvSpPr>
          <p:cNvPr id="13" name="Text 11"/>
          <p:cNvSpPr/>
          <p:nvPr/>
        </p:nvSpPr>
        <p:spPr>
          <a:xfrm>
            <a:off x="6527750" y="4661446"/>
            <a:ext cx="5389398" cy="387846"/>
          </a:xfrm>
          <a:prstGeom prst="rect">
            <a:avLst/>
          </a:prstGeom>
          <a:noFill/>
          <a:ln/>
        </p:spPr>
        <p:txBody>
          <a:bodyPr wrap="square" lIns="25400" tIns="25400" rIns="25400" bIns="25400" rtlCol="0" anchor="t">
            <a:normAutofit/>
          </a:bodyPr>
          <a:lstStyle/>
          <a:p>
            <a:pPr algn="l" indent="0" marL="0">
              <a:lnSpc>
                <a:spcPct val="108000"/>
              </a:lnSpc>
              <a:buNone/>
            </a:pPr>
            <a:r>
              <a:rPr lang="en-US" sz="2550" dirty="0">
                <a:solidFill>
                  <a:srgbClr val="E8E4D8"/>
                </a:solidFill>
                <a:latin typeface="Georgia" pitchFamily="34" charset="0"/>
                <a:ea typeface="Georgia" pitchFamily="34" charset="-122"/>
                <a:cs typeface="Georgia" pitchFamily="34" charset="-120"/>
              </a:rPr>
              <a:t>Multilingual &amp; multimodal</a:t>
            </a:r>
            <a:endParaRPr lang="en-US" sz="2550" dirty="0"/>
          </a:p>
        </p:txBody>
      </p:sp>
      <p:sp>
        <p:nvSpPr>
          <p:cNvPr id="14" name="Text 12"/>
          <p:cNvSpPr/>
          <p:nvPr/>
        </p:nvSpPr>
        <p:spPr>
          <a:xfrm>
            <a:off x="6527750" y="5144542"/>
            <a:ext cx="5389398"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A8A394"/>
                </a:solidFill>
                <a:latin typeface="-apple-system" pitchFamily="34" charset="0"/>
                <a:ea typeface="-apple-system" pitchFamily="34" charset="-122"/>
                <a:cs typeface="-apple-system" pitchFamily="34" charset="-120"/>
              </a:rPr>
              <a:t>Voice, text, online, offline. 20+ languages at launch. Low-literacy and assistive paths by default.</a:t>
            </a:r>
            <a:endParaRPr lang="en-US" sz="1950" dirty="0"/>
          </a:p>
        </p:txBody>
      </p:sp>
      <p:sp>
        <p:nvSpPr>
          <p:cNvPr id="15" name="Shape 13"/>
          <p:cNvSpPr/>
          <p:nvPr/>
        </p:nvSpPr>
        <p:spPr>
          <a:xfrm>
            <a:off x="12103075" y="4032796"/>
            <a:ext cx="5232350" cy="9525"/>
          </a:xfrm>
          <a:prstGeom prst="rect">
            <a:avLst/>
          </a:prstGeom>
          <a:solidFill>
            <a:srgbClr val="2A3344"/>
          </a:solidFill>
          <a:ln/>
        </p:spPr>
      </p:sp>
      <p:sp>
        <p:nvSpPr>
          <p:cNvPr id="16" name="Text 14"/>
          <p:cNvSpPr/>
          <p:nvPr/>
        </p:nvSpPr>
        <p:spPr>
          <a:xfrm>
            <a:off x="12103075" y="4270921"/>
            <a:ext cx="5389321"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03 — PROCESS</a:t>
            </a:r>
            <a:endParaRPr lang="en-US" sz="1800" dirty="0"/>
          </a:p>
        </p:txBody>
      </p:sp>
      <p:sp>
        <p:nvSpPr>
          <p:cNvPr id="17" name="Text 15"/>
          <p:cNvSpPr/>
          <p:nvPr/>
        </p:nvSpPr>
        <p:spPr>
          <a:xfrm>
            <a:off x="12103075" y="4661446"/>
            <a:ext cx="5389321" cy="387846"/>
          </a:xfrm>
          <a:prstGeom prst="rect">
            <a:avLst/>
          </a:prstGeom>
          <a:noFill/>
          <a:ln/>
        </p:spPr>
        <p:txBody>
          <a:bodyPr wrap="square" lIns="25400" tIns="25400" rIns="25400" bIns="25400" rtlCol="0" anchor="t">
            <a:normAutofit/>
          </a:bodyPr>
          <a:lstStyle/>
          <a:p>
            <a:pPr algn="l" indent="0" marL="0">
              <a:lnSpc>
                <a:spcPct val="108000"/>
              </a:lnSpc>
              <a:buNone/>
            </a:pPr>
            <a:r>
              <a:rPr lang="en-US" sz="2550" dirty="0">
                <a:solidFill>
                  <a:srgbClr val="E8E4D8"/>
                </a:solidFill>
                <a:latin typeface="Georgia" pitchFamily="34" charset="0"/>
                <a:ea typeface="Georgia" pitchFamily="34" charset="-122"/>
                <a:cs typeface="Georgia" pitchFamily="34" charset="-120"/>
              </a:rPr>
              <a:t>Documents &amp; deadlines</a:t>
            </a:r>
            <a:endParaRPr lang="en-US" sz="2550" dirty="0"/>
          </a:p>
        </p:txBody>
      </p:sp>
      <p:sp>
        <p:nvSpPr>
          <p:cNvPr id="18" name="Text 16"/>
          <p:cNvSpPr/>
          <p:nvPr/>
        </p:nvSpPr>
        <p:spPr>
          <a:xfrm>
            <a:off x="12103075" y="5144542"/>
            <a:ext cx="5389321"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A8A394"/>
                </a:solidFill>
                <a:latin typeface="-apple-system" pitchFamily="34" charset="0"/>
                <a:ea typeface="-apple-system" pitchFamily="34" charset="-122"/>
                <a:cs typeface="-apple-system" pitchFamily="34" charset="-120"/>
              </a:rPr>
              <a:t>Checks eligibility, audits paperwork, tracks renewals, and sends reminders before things fall off.</a:t>
            </a:r>
            <a:endParaRPr lang="en-US" sz="1950" dirty="0"/>
          </a:p>
        </p:txBody>
      </p:sp>
      <p:sp>
        <p:nvSpPr>
          <p:cNvPr id="19" name="Shape 17"/>
          <p:cNvSpPr/>
          <p:nvPr/>
        </p:nvSpPr>
        <p:spPr>
          <a:xfrm>
            <a:off x="952500" y="6450285"/>
            <a:ext cx="5232350" cy="9525"/>
          </a:xfrm>
          <a:prstGeom prst="rect">
            <a:avLst/>
          </a:prstGeom>
          <a:solidFill>
            <a:srgbClr val="2A3344"/>
          </a:solidFill>
          <a:ln/>
        </p:spPr>
      </p:sp>
      <p:sp>
        <p:nvSpPr>
          <p:cNvPr id="20" name="Text 18"/>
          <p:cNvSpPr/>
          <p:nvPr/>
        </p:nvSpPr>
        <p:spPr>
          <a:xfrm>
            <a:off x="952500" y="6688410"/>
            <a:ext cx="5389321"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04 — STATUS</a:t>
            </a:r>
            <a:endParaRPr lang="en-US" sz="1800" dirty="0"/>
          </a:p>
        </p:txBody>
      </p:sp>
      <p:sp>
        <p:nvSpPr>
          <p:cNvPr id="21" name="Text 19"/>
          <p:cNvSpPr/>
          <p:nvPr/>
        </p:nvSpPr>
        <p:spPr>
          <a:xfrm>
            <a:off x="952500" y="7078935"/>
            <a:ext cx="5389321" cy="387846"/>
          </a:xfrm>
          <a:prstGeom prst="rect">
            <a:avLst/>
          </a:prstGeom>
          <a:noFill/>
          <a:ln/>
        </p:spPr>
        <p:txBody>
          <a:bodyPr wrap="square" lIns="25400" tIns="25400" rIns="25400" bIns="25400" rtlCol="0" anchor="t">
            <a:normAutofit/>
          </a:bodyPr>
          <a:lstStyle/>
          <a:p>
            <a:pPr algn="l" indent="0" marL="0">
              <a:lnSpc>
                <a:spcPct val="108000"/>
              </a:lnSpc>
              <a:buNone/>
            </a:pPr>
            <a:r>
              <a:rPr lang="en-US" sz="2550" dirty="0">
                <a:solidFill>
                  <a:srgbClr val="E8E4D8"/>
                </a:solidFill>
                <a:latin typeface="Georgia" pitchFamily="34" charset="0"/>
                <a:ea typeface="Georgia" pitchFamily="34" charset="-122"/>
                <a:cs typeface="Georgia" pitchFamily="34" charset="-120"/>
              </a:rPr>
              <a:t>Real-time routing</a:t>
            </a:r>
            <a:endParaRPr lang="en-US" sz="2550" dirty="0"/>
          </a:p>
        </p:txBody>
      </p:sp>
      <p:sp>
        <p:nvSpPr>
          <p:cNvPr id="22" name="Text 20"/>
          <p:cNvSpPr/>
          <p:nvPr/>
        </p:nvSpPr>
        <p:spPr>
          <a:xfrm>
            <a:off x="952500" y="7562031"/>
            <a:ext cx="5389321"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A8A394"/>
                </a:solidFill>
                <a:latin typeface="-apple-system" pitchFamily="34" charset="0"/>
                <a:ea typeface="-apple-system" pitchFamily="34" charset="-122"/>
                <a:cs typeface="-apple-system" pitchFamily="34" charset="-120"/>
              </a:rPr>
              <a:t>Which line, which window, which form, which officer — updated live as the system moves.</a:t>
            </a:r>
            <a:endParaRPr lang="en-US" sz="1950" dirty="0"/>
          </a:p>
        </p:txBody>
      </p:sp>
      <p:sp>
        <p:nvSpPr>
          <p:cNvPr id="23" name="Shape 21"/>
          <p:cNvSpPr/>
          <p:nvPr/>
        </p:nvSpPr>
        <p:spPr>
          <a:xfrm>
            <a:off x="6527750" y="6450285"/>
            <a:ext cx="5232425" cy="9525"/>
          </a:xfrm>
          <a:prstGeom prst="rect">
            <a:avLst/>
          </a:prstGeom>
          <a:solidFill>
            <a:srgbClr val="2A3344"/>
          </a:solidFill>
          <a:ln/>
        </p:spPr>
      </p:sp>
      <p:sp>
        <p:nvSpPr>
          <p:cNvPr id="24" name="Text 22"/>
          <p:cNvSpPr/>
          <p:nvPr/>
        </p:nvSpPr>
        <p:spPr>
          <a:xfrm>
            <a:off x="6527750" y="6688410"/>
            <a:ext cx="5389398"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05 — RECORD</a:t>
            </a:r>
            <a:endParaRPr lang="en-US" sz="1800" dirty="0"/>
          </a:p>
        </p:txBody>
      </p:sp>
      <p:sp>
        <p:nvSpPr>
          <p:cNvPr id="25" name="Text 23"/>
          <p:cNvSpPr/>
          <p:nvPr/>
        </p:nvSpPr>
        <p:spPr>
          <a:xfrm>
            <a:off x="6527750" y="7078935"/>
            <a:ext cx="5389398" cy="387846"/>
          </a:xfrm>
          <a:prstGeom prst="rect">
            <a:avLst/>
          </a:prstGeom>
          <a:noFill/>
          <a:ln/>
        </p:spPr>
        <p:txBody>
          <a:bodyPr wrap="square" lIns="25400" tIns="25400" rIns="25400" bIns="25400" rtlCol="0" anchor="t">
            <a:normAutofit/>
          </a:bodyPr>
          <a:lstStyle/>
          <a:p>
            <a:pPr algn="l" indent="0" marL="0">
              <a:lnSpc>
                <a:spcPct val="108000"/>
              </a:lnSpc>
              <a:buNone/>
            </a:pPr>
            <a:r>
              <a:rPr lang="en-US" sz="2550" dirty="0">
                <a:solidFill>
                  <a:srgbClr val="E8E4D8"/>
                </a:solidFill>
                <a:latin typeface="Georgia" pitchFamily="34" charset="0"/>
                <a:ea typeface="Georgia" pitchFamily="34" charset="-122"/>
                <a:cs typeface="Georgia" pitchFamily="34" charset="-120"/>
              </a:rPr>
              <a:t>Auditable log</a:t>
            </a:r>
            <a:endParaRPr lang="en-US" sz="2550" dirty="0"/>
          </a:p>
        </p:txBody>
      </p:sp>
      <p:sp>
        <p:nvSpPr>
          <p:cNvPr id="26" name="Text 24"/>
          <p:cNvSpPr/>
          <p:nvPr/>
        </p:nvSpPr>
        <p:spPr>
          <a:xfrm>
            <a:off x="6527750" y="7562031"/>
            <a:ext cx="5389398"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A8A394"/>
                </a:solidFill>
                <a:latin typeface="-apple-system" pitchFamily="34" charset="0"/>
                <a:ea typeface="-apple-system" pitchFamily="34" charset="-122"/>
                <a:cs typeface="-apple-system" pitchFamily="34" charset="-120"/>
              </a:rPr>
              <a:t>Every explanation, consent, and submission recorded and exportable. Nothing can be denied later.</a:t>
            </a:r>
            <a:endParaRPr lang="en-US" sz="1950" dirty="0"/>
          </a:p>
        </p:txBody>
      </p:sp>
      <p:sp>
        <p:nvSpPr>
          <p:cNvPr id="27" name="Shape 25"/>
          <p:cNvSpPr/>
          <p:nvPr/>
        </p:nvSpPr>
        <p:spPr>
          <a:xfrm>
            <a:off x="12103075" y="6450285"/>
            <a:ext cx="5232350" cy="9525"/>
          </a:xfrm>
          <a:prstGeom prst="rect">
            <a:avLst/>
          </a:prstGeom>
          <a:solidFill>
            <a:srgbClr val="2A3344"/>
          </a:solidFill>
          <a:ln/>
        </p:spPr>
      </p:sp>
      <p:sp>
        <p:nvSpPr>
          <p:cNvPr id="28" name="Text 26"/>
          <p:cNvSpPr/>
          <p:nvPr/>
        </p:nvSpPr>
        <p:spPr>
          <a:xfrm>
            <a:off x="12103075" y="6688410"/>
            <a:ext cx="5389321"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06 — RULEPACKS</a:t>
            </a:r>
            <a:endParaRPr lang="en-US" sz="1800" dirty="0"/>
          </a:p>
        </p:txBody>
      </p:sp>
      <p:sp>
        <p:nvSpPr>
          <p:cNvPr id="29" name="Text 27"/>
          <p:cNvSpPr/>
          <p:nvPr/>
        </p:nvSpPr>
        <p:spPr>
          <a:xfrm>
            <a:off x="12103075" y="7078935"/>
            <a:ext cx="5389321" cy="387846"/>
          </a:xfrm>
          <a:prstGeom prst="rect">
            <a:avLst/>
          </a:prstGeom>
          <a:noFill/>
          <a:ln/>
        </p:spPr>
        <p:txBody>
          <a:bodyPr wrap="square" lIns="25400" tIns="25400" rIns="25400" bIns="25400" rtlCol="0" anchor="t">
            <a:normAutofit/>
          </a:bodyPr>
          <a:lstStyle/>
          <a:p>
            <a:pPr algn="l" indent="0" marL="0">
              <a:lnSpc>
                <a:spcPct val="108000"/>
              </a:lnSpc>
              <a:buNone/>
            </a:pPr>
            <a:r>
              <a:rPr lang="en-US" sz="2550" dirty="0">
                <a:solidFill>
                  <a:srgbClr val="E8E4D8"/>
                </a:solidFill>
                <a:latin typeface="Georgia" pitchFamily="34" charset="0"/>
                <a:ea typeface="Georgia" pitchFamily="34" charset="-122"/>
                <a:cs typeface="Georgia" pitchFamily="34" charset="-120"/>
              </a:rPr>
              <a:t>Open domain standards</a:t>
            </a:r>
            <a:endParaRPr lang="en-US" sz="2550" dirty="0"/>
          </a:p>
        </p:txBody>
      </p:sp>
      <p:sp>
        <p:nvSpPr>
          <p:cNvPr id="30" name="Text 28"/>
          <p:cNvSpPr/>
          <p:nvPr/>
        </p:nvSpPr>
        <p:spPr>
          <a:xfrm>
            <a:off x="12103075" y="7562031"/>
            <a:ext cx="5389321" cy="75619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A8A394"/>
                </a:solidFill>
                <a:latin typeface="-apple-system" pitchFamily="34" charset="0"/>
                <a:ea typeface="-apple-system" pitchFamily="34" charset="-122"/>
                <a:cs typeface="-apple-system" pitchFamily="34" charset="-120"/>
              </a:rPr>
              <a:t>Each domain's rules ship as an open rulepack — auditable, forkable, reviewable by the public.</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13 / 16</a:t>
            </a:r>
            <a:endParaRPr lang="en-US" sz="1800" dirty="0"/>
          </a:p>
        </p:txBody>
      </p:sp>
      <p:sp>
        <p:nvSpPr>
          <p:cNvPr id="4" name="Text 2"/>
          <p:cNvSpPr/>
          <p:nvPr/>
        </p:nvSpPr>
        <p:spPr>
          <a:xfrm>
            <a:off x="952500" y="1714500"/>
            <a:ext cx="16874490"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B04B"/>
                </a:solidFill>
                <a:latin typeface="Courier New" pitchFamily="34" charset="0"/>
                <a:ea typeface="Courier New" pitchFamily="34" charset="-122"/>
                <a:cs typeface="Courier New" pitchFamily="34" charset="-120"/>
              </a:rPr>
              <a:t>ALIGNMENT</a:t>
            </a:r>
            <a:endParaRPr lang="en-US" sz="1800" dirty="0"/>
          </a:p>
        </p:txBody>
      </p:sp>
      <p:sp>
        <p:nvSpPr>
          <p:cNvPr id="5" name="Text 3"/>
          <p:cNvSpPr/>
          <p:nvPr/>
        </p:nvSpPr>
        <p:spPr>
          <a:xfrm>
            <a:off x="952500" y="2238375"/>
            <a:ext cx="16874490" cy="975494"/>
          </a:xfrm>
          <a:prstGeom prst="rect">
            <a:avLst/>
          </a:prstGeom>
          <a:noFill/>
          <a:ln/>
        </p:spPr>
        <p:txBody>
          <a:bodyPr wrap="square" lIns="25400" tIns="25400" rIns="25400" bIns="25400" rtlCol="0" anchor="t">
            <a:normAutofit/>
          </a:bodyPr>
          <a:lstStyle/>
          <a:p>
            <a:pPr algn="l" indent="0" marL="0">
              <a:lnSpc>
                <a:spcPct val="102000"/>
              </a:lnSpc>
              <a:buNone/>
            </a:pPr>
            <a:r>
              <a:rPr lang="en-US" sz="7200" spc="-86" kern="0" dirty="0">
                <a:solidFill>
                  <a:srgbClr val="E8E4D8"/>
                </a:solidFill>
                <a:latin typeface="Georgia" pitchFamily="34" charset="0"/>
                <a:ea typeface="Georgia" pitchFamily="34" charset="-122"/>
                <a:cs typeface="Georgia" pitchFamily="34" charset="-120"/>
              </a:rPr>
              <a:t>Three groups. </a:t>
            </a:r>
            <a:pPr algn="l" indent="0" marL="0">
              <a:lnSpc>
                <a:spcPct val="102000"/>
              </a:lnSpc>
              <a:buNone/>
            </a:pPr>
            <a:r>
              <a:rPr lang="en-US" sz="7200" i="1" spc="-86" kern="0" dirty="0">
                <a:solidFill>
                  <a:srgbClr val="E8B04B"/>
                </a:solidFill>
                <a:latin typeface="Georgia" pitchFamily="34" charset="0"/>
                <a:ea typeface="Georgia" pitchFamily="34" charset="-122"/>
                <a:cs typeface="Georgia" pitchFamily="34" charset="-120"/>
              </a:rPr>
              <a:t>One clean win.</a:t>
            </a:r>
            <a:endParaRPr lang="en-US" sz="7200" dirty="0"/>
          </a:p>
        </p:txBody>
      </p:sp>
      <p:sp>
        <p:nvSpPr>
          <p:cNvPr id="6" name="Shape 4"/>
          <p:cNvSpPr/>
          <p:nvPr/>
        </p:nvSpPr>
        <p:spPr>
          <a:xfrm>
            <a:off x="952500" y="3947294"/>
            <a:ext cx="5105400" cy="9525"/>
          </a:xfrm>
          <a:prstGeom prst="rect">
            <a:avLst/>
          </a:prstGeom>
          <a:solidFill>
            <a:srgbClr val="2A3344"/>
          </a:solidFill>
          <a:ln/>
        </p:spPr>
      </p:sp>
      <p:sp>
        <p:nvSpPr>
          <p:cNvPr id="7" name="Text 5"/>
          <p:cNvSpPr/>
          <p:nvPr/>
        </p:nvSpPr>
        <p:spPr>
          <a:xfrm>
            <a:off x="952500" y="3556769"/>
            <a:ext cx="5258562"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6A6656"/>
                </a:solidFill>
                <a:latin typeface="Courier New" pitchFamily="34" charset="0"/>
                <a:ea typeface="Courier New" pitchFamily="34" charset="-122"/>
                <a:cs typeface="Courier New" pitchFamily="34" charset="-120"/>
              </a:rPr>
              <a:t>FOR CITIZENS</a:t>
            </a:r>
            <a:endParaRPr lang="en-US" sz="1800" dirty="0"/>
          </a:p>
        </p:txBody>
      </p:sp>
      <p:sp>
        <p:nvSpPr>
          <p:cNvPr id="8" name="Text 6"/>
          <p:cNvSpPr/>
          <p:nvPr/>
        </p:nvSpPr>
        <p:spPr>
          <a:xfrm>
            <a:off x="952500" y="4147319"/>
            <a:ext cx="5258562" cy="1126182"/>
          </a:xfrm>
          <a:prstGeom prst="rect">
            <a:avLst/>
          </a:prstGeom>
          <a:noFill/>
          <a:ln/>
        </p:spPr>
        <p:txBody>
          <a:bodyPr wrap="square" lIns="25400" tIns="25400" rIns="25400" bIns="25400" rtlCol="0" anchor="t">
            <a:normAutofit/>
          </a:bodyPr>
          <a:lstStyle/>
          <a:p>
            <a:pPr algn="l" indent="0" marL="0">
              <a:lnSpc>
                <a:spcPct val="102000"/>
              </a:lnSpc>
              <a:buNone/>
            </a:pPr>
            <a:r>
              <a:rPr lang="en-US" sz="4200" i="1" dirty="0">
                <a:solidFill>
                  <a:srgbClr val="E8B04B"/>
                </a:solidFill>
                <a:latin typeface="Georgia" pitchFamily="34" charset="0"/>
                <a:ea typeface="Georgia" pitchFamily="34" charset="-122"/>
                <a:cs typeface="Georgia" pitchFamily="34" charset="-120"/>
              </a:rPr>
              <a:t>Clarity, dignity, outcomes.</a:t>
            </a:r>
            <a:endParaRPr lang="en-US" sz="4200" dirty="0"/>
          </a:p>
        </p:txBody>
      </p:sp>
      <p:sp>
        <p:nvSpPr>
          <p:cNvPr id="9" name="Text 7"/>
          <p:cNvSpPr/>
          <p:nvPr/>
        </p:nvSpPr>
        <p:spPr>
          <a:xfrm>
            <a:off x="952500" y="5673551"/>
            <a:ext cx="5258562" cy="1444526"/>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E8E4D8"/>
                </a:solidFill>
                <a:latin typeface="-apple-system" pitchFamily="34" charset="0"/>
                <a:ea typeface="-apple-system" pitchFamily="34" charset="-122"/>
                <a:cs typeface="-apple-system" pitchFamily="34" charset="-120"/>
              </a:rPr>
              <a:t>Access to the benefits, rights, and services the system already promised them — without needing a lawyer, a cousin at the agency, or a good day.</a:t>
            </a:r>
            <a:endParaRPr lang="en-US" sz="1950" dirty="0"/>
          </a:p>
        </p:txBody>
      </p:sp>
      <p:sp>
        <p:nvSpPr>
          <p:cNvPr id="10" name="Shape 8"/>
          <p:cNvSpPr/>
          <p:nvPr/>
        </p:nvSpPr>
        <p:spPr>
          <a:xfrm>
            <a:off x="6591300" y="3947294"/>
            <a:ext cx="5105400" cy="9525"/>
          </a:xfrm>
          <a:prstGeom prst="rect">
            <a:avLst/>
          </a:prstGeom>
          <a:solidFill>
            <a:srgbClr val="2A3344"/>
          </a:solidFill>
          <a:ln/>
        </p:spPr>
      </p:sp>
      <p:sp>
        <p:nvSpPr>
          <p:cNvPr id="11" name="Text 9"/>
          <p:cNvSpPr/>
          <p:nvPr/>
        </p:nvSpPr>
        <p:spPr>
          <a:xfrm>
            <a:off x="6591300" y="3556769"/>
            <a:ext cx="5258562"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6A6656"/>
                </a:solidFill>
                <a:latin typeface="Courier New" pitchFamily="34" charset="0"/>
                <a:ea typeface="Courier New" pitchFamily="34" charset="-122"/>
                <a:cs typeface="Courier New" pitchFamily="34" charset="-120"/>
              </a:rPr>
              <a:t>FOR INSTITUTIONS</a:t>
            </a:r>
            <a:endParaRPr lang="en-US" sz="1800" dirty="0"/>
          </a:p>
        </p:txBody>
      </p:sp>
      <p:sp>
        <p:nvSpPr>
          <p:cNvPr id="12" name="Text 10"/>
          <p:cNvSpPr/>
          <p:nvPr/>
        </p:nvSpPr>
        <p:spPr>
          <a:xfrm>
            <a:off x="6591300" y="4147319"/>
            <a:ext cx="5258562" cy="1126182"/>
          </a:xfrm>
          <a:prstGeom prst="rect">
            <a:avLst/>
          </a:prstGeom>
          <a:noFill/>
          <a:ln/>
        </p:spPr>
        <p:txBody>
          <a:bodyPr wrap="square" lIns="25400" tIns="25400" rIns="25400" bIns="25400" rtlCol="0" anchor="t">
            <a:normAutofit/>
          </a:bodyPr>
          <a:lstStyle/>
          <a:p>
            <a:pPr algn="l" indent="0" marL="0">
              <a:lnSpc>
                <a:spcPct val="102000"/>
              </a:lnSpc>
              <a:buNone/>
            </a:pPr>
            <a:r>
              <a:rPr lang="en-US" sz="4200" i="1" dirty="0">
                <a:solidFill>
                  <a:srgbClr val="E8B04B"/>
                </a:solidFill>
                <a:latin typeface="Georgia" pitchFamily="34" charset="0"/>
                <a:ea typeface="Georgia" pitchFamily="34" charset="-122"/>
                <a:cs typeface="Georgia" pitchFamily="34" charset="-120"/>
              </a:rPr>
              <a:t>Shorter lines, cleaner records.</a:t>
            </a:r>
            <a:endParaRPr lang="en-US" sz="4200" dirty="0"/>
          </a:p>
        </p:txBody>
      </p:sp>
      <p:sp>
        <p:nvSpPr>
          <p:cNvPr id="13" name="Text 11"/>
          <p:cNvSpPr/>
          <p:nvPr/>
        </p:nvSpPr>
        <p:spPr>
          <a:xfrm>
            <a:off x="6591300" y="5673551"/>
            <a:ext cx="5258562" cy="1092919"/>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E8E4D8"/>
                </a:solidFill>
                <a:latin typeface="-apple-system" pitchFamily="34" charset="0"/>
                <a:ea typeface="-apple-system" pitchFamily="34" charset="-122"/>
                <a:cs typeface="-apple-system" pitchFamily="34" charset="-120"/>
              </a:rPr>
              <a:t>Fewer repeat visits, fewer call-center hours, fewer procedural dismissals. Staff do the work they were trained for. The audit trail is built in.</a:t>
            </a:r>
            <a:endParaRPr lang="en-US" sz="1950" dirty="0"/>
          </a:p>
        </p:txBody>
      </p:sp>
      <p:sp>
        <p:nvSpPr>
          <p:cNvPr id="14" name="Shape 12"/>
          <p:cNvSpPr/>
          <p:nvPr/>
        </p:nvSpPr>
        <p:spPr>
          <a:xfrm>
            <a:off x="12230100" y="3947294"/>
            <a:ext cx="5105400" cy="9525"/>
          </a:xfrm>
          <a:prstGeom prst="rect">
            <a:avLst/>
          </a:prstGeom>
          <a:solidFill>
            <a:srgbClr val="2A3344"/>
          </a:solidFill>
          <a:ln/>
        </p:spPr>
      </p:sp>
      <p:sp>
        <p:nvSpPr>
          <p:cNvPr id="15" name="Text 13"/>
          <p:cNvSpPr/>
          <p:nvPr/>
        </p:nvSpPr>
        <p:spPr>
          <a:xfrm>
            <a:off x="12230100" y="3556769"/>
            <a:ext cx="5258562"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6A6656"/>
                </a:solidFill>
                <a:latin typeface="Courier New" pitchFamily="34" charset="0"/>
                <a:ea typeface="Courier New" pitchFamily="34" charset="-122"/>
                <a:cs typeface="Courier New" pitchFamily="34" charset="-120"/>
              </a:rPr>
              <a:t>FOR THE PUBLIC</a:t>
            </a:r>
            <a:endParaRPr lang="en-US" sz="1800" dirty="0"/>
          </a:p>
        </p:txBody>
      </p:sp>
      <p:sp>
        <p:nvSpPr>
          <p:cNvPr id="16" name="Text 14"/>
          <p:cNvSpPr/>
          <p:nvPr/>
        </p:nvSpPr>
        <p:spPr>
          <a:xfrm>
            <a:off x="12230100" y="4147319"/>
            <a:ext cx="5258562" cy="582141"/>
          </a:xfrm>
          <a:prstGeom prst="rect">
            <a:avLst/>
          </a:prstGeom>
          <a:noFill/>
          <a:ln/>
        </p:spPr>
        <p:txBody>
          <a:bodyPr wrap="square" lIns="25400" tIns="25400" rIns="25400" bIns="25400" rtlCol="0" anchor="t">
            <a:normAutofit/>
          </a:bodyPr>
          <a:lstStyle/>
          <a:p>
            <a:pPr algn="l" indent="0" marL="0">
              <a:lnSpc>
                <a:spcPct val="102000"/>
              </a:lnSpc>
              <a:buNone/>
            </a:pPr>
            <a:r>
              <a:rPr lang="en-US" sz="4200" i="1" dirty="0">
                <a:solidFill>
                  <a:srgbClr val="E8B04B"/>
                </a:solidFill>
                <a:latin typeface="Georgia" pitchFamily="34" charset="0"/>
                <a:ea typeface="Georgia" pitchFamily="34" charset="-122"/>
                <a:cs typeface="Georgia" pitchFamily="34" charset="-120"/>
              </a:rPr>
              <a:t>A system that works.</a:t>
            </a:r>
            <a:endParaRPr lang="en-US" sz="4200" dirty="0"/>
          </a:p>
        </p:txBody>
      </p:sp>
      <p:sp>
        <p:nvSpPr>
          <p:cNvPr id="17" name="Text 15"/>
          <p:cNvSpPr/>
          <p:nvPr/>
        </p:nvSpPr>
        <p:spPr>
          <a:xfrm>
            <a:off x="12230100" y="5129510"/>
            <a:ext cx="5258562" cy="1444526"/>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E8E4D8"/>
                </a:solidFill>
                <a:latin typeface="-apple-system" pitchFamily="34" charset="0"/>
                <a:ea typeface="-apple-system" pitchFamily="34" charset="-122"/>
                <a:cs typeface="-apple-system" pitchFamily="34" charset="-120"/>
              </a:rPr>
              <a:t>The quiet, civic feeling of institutions that function. Trust isn't earned by a slogan. It's earned by the forty-seventh interaction, not the first.</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14 / 16</a:t>
            </a:r>
            <a:endParaRPr lang="en-US" sz="1800" dirty="0"/>
          </a:p>
        </p:txBody>
      </p:sp>
      <p:sp>
        <p:nvSpPr>
          <p:cNvPr id="4" name="Text 2"/>
          <p:cNvSpPr/>
          <p:nvPr/>
        </p:nvSpPr>
        <p:spPr>
          <a:xfrm>
            <a:off x="952500" y="1714500"/>
            <a:ext cx="16874490"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B04B"/>
                </a:solidFill>
                <a:latin typeface="Courier New" pitchFamily="34" charset="0"/>
                <a:ea typeface="Courier New" pitchFamily="34" charset="-122"/>
                <a:cs typeface="Courier New" pitchFamily="34" charset="-120"/>
              </a:rPr>
              <a:t>WHAT WE WILL NOT COMPROMISE ON</a:t>
            </a:r>
            <a:endParaRPr lang="en-US" sz="1800" dirty="0"/>
          </a:p>
        </p:txBody>
      </p:sp>
      <p:sp>
        <p:nvSpPr>
          <p:cNvPr id="5" name="Text 3"/>
          <p:cNvSpPr/>
          <p:nvPr/>
        </p:nvSpPr>
        <p:spPr>
          <a:xfrm>
            <a:off x="952500" y="2238375"/>
            <a:ext cx="16874490" cy="970731"/>
          </a:xfrm>
          <a:prstGeom prst="rect">
            <a:avLst/>
          </a:prstGeom>
          <a:noFill/>
          <a:ln/>
        </p:spPr>
        <p:txBody>
          <a:bodyPr wrap="square" lIns="25400" tIns="25400" rIns="25400" bIns="25400" rtlCol="0" anchor="t">
            <a:normAutofit/>
          </a:bodyPr>
          <a:lstStyle/>
          <a:p>
            <a:pPr algn="l" indent="0" marL="0">
              <a:lnSpc>
                <a:spcPct val="102000"/>
              </a:lnSpc>
              <a:buNone/>
            </a:pPr>
            <a:r>
              <a:rPr lang="en-US" sz="7200" spc="-86" kern="0" dirty="0">
                <a:solidFill>
                  <a:srgbClr val="E8E4D8"/>
                </a:solidFill>
                <a:latin typeface="Georgia" pitchFamily="34" charset="0"/>
                <a:ea typeface="Georgia" pitchFamily="34" charset="-122"/>
                <a:cs typeface="Georgia" pitchFamily="34" charset="-120"/>
              </a:rPr>
              <a:t>Principles.</a:t>
            </a:r>
            <a:endParaRPr lang="en-US" sz="7200" dirty="0"/>
          </a:p>
        </p:txBody>
      </p:sp>
      <p:sp>
        <p:nvSpPr>
          <p:cNvPr id="6" name="Shape 4"/>
          <p:cNvSpPr/>
          <p:nvPr/>
        </p:nvSpPr>
        <p:spPr>
          <a:xfrm>
            <a:off x="952500" y="3628206"/>
            <a:ext cx="7810500" cy="9525"/>
          </a:xfrm>
          <a:prstGeom prst="rect">
            <a:avLst/>
          </a:prstGeom>
          <a:solidFill>
            <a:srgbClr val="2A3344"/>
          </a:solidFill>
          <a:ln/>
        </p:spPr>
      </p:sp>
      <p:sp>
        <p:nvSpPr>
          <p:cNvPr id="7" name="Text 5"/>
          <p:cNvSpPr/>
          <p:nvPr/>
        </p:nvSpPr>
        <p:spPr>
          <a:xfrm>
            <a:off x="952500" y="3942531"/>
            <a:ext cx="838200" cy="2952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E8B04B"/>
                </a:solidFill>
                <a:latin typeface="Courier New" pitchFamily="34" charset="0"/>
                <a:ea typeface="Courier New" pitchFamily="34" charset="-122"/>
                <a:cs typeface="Courier New" pitchFamily="34" charset="-120"/>
              </a:rPr>
              <a:t>I.</a:t>
            </a:r>
            <a:endParaRPr lang="en-US" sz="1800" dirty="0"/>
          </a:p>
        </p:txBody>
      </p:sp>
      <p:sp>
        <p:nvSpPr>
          <p:cNvPr id="8" name="Text 6"/>
          <p:cNvSpPr/>
          <p:nvPr/>
        </p:nvSpPr>
        <p:spPr>
          <a:xfrm>
            <a:off x="1943100" y="3847281"/>
            <a:ext cx="7024497" cy="792361"/>
          </a:xfrm>
          <a:prstGeom prst="rect">
            <a:avLst/>
          </a:prstGeom>
          <a:noFill/>
          <a:ln/>
        </p:spPr>
        <p:txBody>
          <a:bodyPr wrap="square" lIns="25400" tIns="25400" rIns="25400" bIns="25400" rtlCol="0" anchor="t">
            <a:normAutofit/>
          </a:bodyPr>
          <a:lstStyle/>
          <a:p>
            <a:pPr algn="l" indent="0" marL="0">
              <a:lnSpc>
                <a:spcPct val="132000"/>
              </a:lnSpc>
              <a:buNone/>
            </a:pPr>
            <a:r>
              <a:rPr lang="en-US" sz="2250" dirty="0">
                <a:solidFill>
                  <a:srgbClr val="E8E4D8"/>
                </a:solidFill>
                <a:latin typeface="Georgia" pitchFamily="34" charset="0"/>
                <a:ea typeface="Georgia" pitchFamily="34" charset="-122"/>
                <a:cs typeface="Georgia" pitchFamily="34" charset="-120"/>
              </a:rPr>
              <a:t>Plain language is non-negotiable. </a:t>
            </a:r>
            <a:pPr algn="l" indent="0" marL="0">
              <a:lnSpc>
                <a:spcPct val="132000"/>
              </a:lnSpc>
              <a:buNone/>
            </a:pPr>
            <a:r>
              <a:rPr lang="en-US" sz="2250" dirty="0">
                <a:solidFill>
                  <a:srgbClr val="A8A394"/>
                </a:solidFill>
                <a:latin typeface="Georgia" pitchFamily="34" charset="0"/>
                <a:ea typeface="Georgia" pitchFamily="34" charset="-122"/>
                <a:cs typeface="Georgia" pitchFamily="34" charset="-120"/>
              </a:rPr>
              <a:t>If the user doesn't understand it, it isn't done.</a:t>
            </a:r>
            <a:endParaRPr lang="en-US" sz="2250" dirty="0"/>
          </a:p>
        </p:txBody>
      </p:sp>
      <p:sp>
        <p:nvSpPr>
          <p:cNvPr id="9" name="Shape 7"/>
          <p:cNvSpPr/>
          <p:nvPr/>
        </p:nvSpPr>
        <p:spPr>
          <a:xfrm>
            <a:off x="9525000" y="3628206"/>
            <a:ext cx="7810500" cy="9525"/>
          </a:xfrm>
          <a:prstGeom prst="rect">
            <a:avLst/>
          </a:prstGeom>
          <a:solidFill>
            <a:srgbClr val="2A3344"/>
          </a:solidFill>
          <a:ln/>
        </p:spPr>
      </p:sp>
      <p:sp>
        <p:nvSpPr>
          <p:cNvPr id="10" name="Text 8"/>
          <p:cNvSpPr/>
          <p:nvPr/>
        </p:nvSpPr>
        <p:spPr>
          <a:xfrm>
            <a:off x="9525000" y="3942531"/>
            <a:ext cx="838200" cy="2952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E8B04B"/>
                </a:solidFill>
                <a:latin typeface="Courier New" pitchFamily="34" charset="0"/>
                <a:ea typeface="Courier New" pitchFamily="34" charset="-122"/>
                <a:cs typeface="Courier New" pitchFamily="34" charset="-120"/>
              </a:rPr>
              <a:t>II.</a:t>
            </a:r>
            <a:endParaRPr lang="en-US" sz="1800" dirty="0"/>
          </a:p>
        </p:txBody>
      </p:sp>
      <p:sp>
        <p:nvSpPr>
          <p:cNvPr id="11" name="Text 9"/>
          <p:cNvSpPr/>
          <p:nvPr/>
        </p:nvSpPr>
        <p:spPr>
          <a:xfrm>
            <a:off x="10515600" y="3847281"/>
            <a:ext cx="7024497" cy="792361"/>
          </a:xfrm>
          <a:prstGeom prst="rect">
            <a:avLst/>
          </a:prstGeom>
          <a:noFill/>
          <a:ln/>
        </p:spPr>
        <p:txBody>
          <a:bodyPr wrap="square" lIns="25400" tIns="25400" rIns="25400" bIns="25400" rtlCol="0" anchor="t">
            <a:normAutofit/>
          </a:bodyPr>
          <a:lstStyle/>
          <a:p>
            <a:pPr algn="l" indent="0" marL="0">
              <a:lnSpc>
                <a:spcPct val="132000"/>
              </a:lnSpc>
              <a:buNone/>
            </a:pPr>
            <a:r>
              <a:rPr lang="en-US" sz="2250" dirty="0">
                <a:solidFill>
                  <a:srgbClr val="E8E4D8"/>
                </a:solidFill>
                <a:latin typeface="Georgia" pitchFamily="34" charset="0"/>
                <a:ea typeface="Georgia" pitchFamily="34" charset="-122"/>
                <a:cs typeface="Georgia" pitchFamily="34" charset="-120"/>
              </a:rPr>
              <a:t>The user's data belongs to the user. </a:t>
            </a:r>
            <a:pPr algn="l" indent="0" marL="0">
              <a:lnSpc>
                <a:spcPct val="132000"/>
              </a:lnSpc>
              <a:buNone/>
            </a:pPr>
            <a:r>
              <a:rPr lang="en-US" sz="2250" dirty="0">
                <a:solidFill>
                  <a:srgbClr val="A8A394"/>
                </a:solidFill>
                <a:latin typeface="Georgia" pitchFamily="34" charset="0"/>
                <a:ea typeface="Georgia" pitchFamily="34" charset="-122"/>
                <a:cs typeface="Georgia" pitchFamily="34" charset="-120"/>
              </a:rPr>
              <a:t>Exportable, portable, deletable, always.</a:t>
            </a:r>
            <a:endParaRPr lang="en-US" sz="2250" dirty="0"/>
          </a:p>
        </p:txBody>
      </p:sp>
      <p:sp>
        <p:nvSpPr>
          <p:cNvPr id="12" name="Shape 10"/>
          <p:cNvSpPr/>
          <p:nvPr/>
        </p:nvSpPr>
        <p:spPr>
          <a:xfrm>
            <a:off x="952500" y="5115892"/>
            <a:ext cx="7810500" cy="9525"/>
          </a:xfrm>
          <a:prstGeom prst="rect">
            <a:avLst/>
          </a:prstGeom>
          <a:solidFill>
            <a:srgbClr val="2A3344"/>
          </a:solidFill>
          <a:ln/>
        </p:spPr>
      </p:sp>
      <p:sp>
        <p:nvSpPr>
          <p:cNvPr id="13" name="Text 11"/>
          <p:cNvSpPr/>
          <p:nvPr/>
        </p:nvSpPr>
        <p:spPr>
          <a:xfrm>
            <a:off x="952500" y="5430217"/>
            <a:ext cx="838200" cy="2952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E8B04B"/>
                </a:solidFill>
                <a:latin typeface="Courier New" pitchFamily="34" charset="0"/>
                <a:ea typeface="Courier New" pitchFamily="34" charset="-122"/>
                <a:cs typeface="Courier New" pitchFamily="34" charset="-120"/>
              </a:rPr>
              <a:t>III.</a:t>
            </a:r>
            <a:endParaRPr lang="en-US" sz="1800" dirty="0"/>
          </a:p>
        </p:txBody>
      </p:sp>
      <p:sp>
        <p:nvSpPr>
          <p:cNvPr id="14" name="Text 12"/>
          <p:cNvSpPr/>
          <p:nvPr/>
        </p:nvSpPr>
        <p:spPr>
          <a:xfrm>
            <a:off x="1943100" y="5334967"/>
            <a:ext cx="7024497" cy="792361"/>
          </a:xfrm>
          <a:prstGeom prst="rect">
            <a:avLst/>
          </a:prstGeom>
          <a:noFill/>
          <a:ln/>
        </p:spPr>
        <p:txBody>
          <a:bodyPr wrap="square" lIns="25400" tIns="25400" rIns="25400" bIns="25400" rtlCol="0" anchor="t">
            <a:normAutofit/>
          </a:bodyPr>
          <a:lstStyle/>
          <a:p>
            <a:pPr algn="l" indent="0" marL="0">
              <a:lnSpc>
                <a:spcPct val="132000"/>
              </a:lnSpc>
              <a:buNone/>
            </a:pPr>
            <a:r>
              <a:rPr lang="en-US" sz="2250" dirty="0">
                <a:solidFill>
                  <a:srgbClr val="E8E4D8"/>
                </a:solidFill>
                <a:latin typeface="Georgia" pitchFamily="34" charset="0"/>
                <a:ea typeface="Georgia" pitchFamily="34" charset="-122"/>
                <a:cs typeface="Georgia" pitchFamily="34" charset="-120"/>
              </a:rPr>
              <a:t>Never hide the human. </a:t>
            </a:r>
            <a:pPr algn="l" indent="0" marL="0">
              <a:lnSpc>
                <a:spcPct val="132000"/>
              </a:lnSpc>
              <a:buNone/>
            </a:pPr>
            <a:r>
              <a:rPr lang="en-US" sz="2250" dirty="0">
                <a:solidFill>
                  <a:srgbClr val="A8A394"/>
                </a:solidFill>
                <a:latin typeface="Georgia" pitchFamily="34" charset="0"/>
                <a:ea typeface="Georgia" pitchFamily="34" charset="-122"/>
                <a:cs typeface="Georgia" pitchFamily="34" charset="-120"/>
              </a:rPr>
              <a:t>The ombuddy makes the path to a clerk, lawyer, or nurse shorter — never longer.</a:t>
            </a:r>
            <a:endParaRPr lang="en-US" sz="2250" dirty="0"/>
          </a:p>
        </p:txBody>
      </p:sp>
      <p:sp>
        <p:nvSpPr>
          <p:cNvPr id="15" name="Shape 13"/>
          <p:cNvSpPr/>
          <p:nvPr/>
        </p:nvSpPr>
        <p:spPr>
          <a:xfrm>
            <a:off x="9525000" y="5115892"/>
            <a:ext cx="7810500" cy="9525"/>
          </a:xfrm>
          <a:prstGeom prst="rect">
            <a:avLst/>
          </a:prstGeom>
          <a:solidFill>
            <a:srgbClr val="2A3344"/>
          </a:solidFill>
          <a:ln/>
        </p:spPr>
      </p:sp>
      <p:sp>
        <p:nvSpPr>
          <p:cNvPr id="16" name="Text 14"/>
          <p:cNvSpPr/>
          <p:nvPr/>
        </p:nvSpPr>
        <p:spPr>
          <a:xfrm>
            <a:off x="9525000" y="5430217"/>
            <a:ext cx="838200" cy="2952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E8B04B"/>
                </a:solidFill>
                <a:latin typeface="Courier New" pitchFamily="34" charset="0"/>
                <a:ea typeface="Courier New" pitchFamily="34" charset="-122"/>
                <a:cs typeface="Courier New" pitchFamily="34" charset="-120"/>
              </a:rPr>
              <a:t>IV.</a:t>
            </a:r>
            <a:endParaRPr lang="en-US" sz="1800" dirty="0"/>
          </a:p>
        </p:txBody>
      </p:sp>
      <p:sp>
        <p:nvSpPr>
          <p:cNvPr id="17" name="Text 15"/>
          <p:cNvSpPr/>
          <p:nvPr/>
        </p:nvSpPr>
        <p:spPr>
          <a:xfrm>
            <a:off x="10515600" y="5334967"/>
            <a:ext cx="7024497" cy="792361"/>
          </a:xfrm>
          <a:prstGeom prst="rect">
            <a:avLst/>
          </a:prstGeom>
          <a:noFill/>
          <a:ln/>
        </p:spPr>
        <p:txBody>
          <a:bodyPr wrap="square" lIns="25400" tIns="25400" rIns="25400" bIns="25400" rtlCol="0" anchor="t">
            <a:normAutofit/>
          </a:bodyPr>
          <a:lstStyle/>
          <a:p>
            <a:pPr algn="l" indent="0" marL="0">
              <a:lnSpc>
                <a:spcPct val="132000"/>
              </a:lnSpc>
              <a:buNone/>
            </a:pPr>
            <a:r>
              <a:rPr lang="en-US" sz="2250" dirty="0">
                <a:solidFill>
                  <a:srgbClr val="E8E4D8"/>
                </a:solidFill>
                <a:latin typeface="Georgia" pitchFamily="34" charset="0"/>
                <a:ea typeface="Georgia" pitchFamily="34" charset="-122"/>
                <a:cs typeface="Georgia" pitchFamily="34" charset="-120"/>
              </a:rPr>
              <a:t>Every interaction logged. </a:t>
            </a:r>
            <a:pPr algn="l" indent="0" marL="0">
              <a:lnSpc>
                <a:spcPct val="132000"/>
              </a:lnSpc>
              <a:buNone/>
            </a:pPr>
            <a:r>
              <a:rPr lang="en-US" sz="2250" dirty="0">
                <a:solidFill>
                  <a:srgbClr val="A8A394"/>
                </a:solidFill>
                <a:latin typeface="Georgia" pitchFamily="34" charset="0"/>
                <a:ea typeface="Georgia" pitchFamily="34" charset="-122"/>
                <a:cs typeface="Georgia" pitchFamily="34" charset="-120"/>
              </a:rPr>
              <a:t>So nothing gets lost, and nothing can be quietly denied later.</a:t>
            </a:r>
            <a:endParaRPr lang="en-US" sz="2250" dirty="0"/>
          </a:p>
        </p:txBody>
      </p:sp>
      <p:sp>
        <p:nvSpPr>
          <p:cNvPr id="18" name="Shape 16"/>
          <p:cNvSpPr/>
          <p:nvPr/>
        </p:nvSpPr>
        <p:spPr>
          <a:xfrm>
            <a:off x="952500" y="6603578"/>
            <a:ext cx="7810500" cy="9525"/>
          </a:xfrm>
          <a:prstGeom prst="rect">
            <a:avLst/>
          </a:prstGeom>
          <a:solidFill>
            <a:srgbClr val="2A3344"/>
          </a:solidFill>
          <a:ln/>
        </p:spPr>
      </p:sp>
      <p:sp>
        <p:nvSpPr>
          <p:cNvPr id="19" name="Text 17"/>
          <p:cNvSpPr/>
          <p:nvPr/>
        </p:nvSpPr>
        <p:spPr>
          <a:xfrm>
            <a:off x="952500" y="6917903"/>
            <a:ext cx="838200" cy="2952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E8B04B"/>
                </a:solidFill>
                <a:latin typeface="Courier New" pitchFamily="34" charset="0"/>
                <a:ea typeface="Courier New" pitchFamily="34" charset="-122"/>
                <a:cs typeface="Courier New" pitchFamily="34" charset="-120"/>
              </a:rPr>
              <a:t>V.</a:t>
            </a:r>
            <a:endParaRPr lang="en-US" sz="1800" dirty="0"/>
          </a:p>
        </p:txBody>
      </p:sp>
      <p:sp>
        <p:nvSpPr>
          <p:cNvPr id="20" name="Text 18"/>
          <p:cNvSpPr/>
          <p:nvPr/>
        </p:nvSpPr>
        <p:spPr>
          <a:xfrm>
            <a:off x="1943100" y="6822653"/>
            <a:ext cx="7024497" cy="792361"/>
          </a:xfrm>
          <a:prstGeom prst="rect">
            <a:avLst/>
          </a:prstGeom>
          <a:noFill/>
          <a:ln/>
        </p:spPr>
        <p:txBody>
          <a:bodyPr wrap="square" lIns="25400" tIns="25400" rIns="25400" bIns="25400" rtlCol="0" anchor="t">
            <a:normAutofit/>
          </a:bodyPr>
          <a:lstStyle/>
          <a:p>
            <a:pPr algn="l" indent="0" marL="0">
              <a:lnSpc>
                <a:spcPct val="132000"/>
              </a:lnSpc>
              <a:buNone/>
            </a:pPr>
            <a:r>
              <a:rPr lang="en-US" sz="2250" dirty="0">
                <a:solidFill>
                  <a:srgbClr val="E8E4D8"/>
                </a:solidFill>
                <a:latin typeface="Georgia" pitchFamily="34" charset="0"/>
                <a:ea typeface="Georgia" pitchFamily="34" charset="-122"/>
                <a:cs typeface="Georgia" pitchFamily="34" charset="-120"/>
              </a:rPr>
              <a:t>Accessible by default. </a:t>
            </a:r>
            <a:pPr algn="l" indent="0" marL="0">
              <a:lnSpc>
                <a:spcPct val="132000"/>
              </a:lnSpc>
              <a:buNone/>
            </a:pPr>
            <a:r>
              <a:rPr lang="en-US" sz="2250" dirty="0">
                <a:solidFill>
                  <a:srgbClr val="A8A394"/>
                </a:solidFill>
                <a:latin typeface="Georgia" pitchFamily="34" charset="0"/>
                <a:ea typeface="Georgia" pitchFamily="34" charset="-122"/>
                <a:cs typeface="Georgia" pitchFamily="34" charset="-120"/>
              </a:rPr>
              <a:t>Voice, text, offline, low-literacy, 20+ languages. Not a later release.</a:t>
            </a:r>
            <a:endParaRPr lang="en-US" sz="2250" dirty="0"/>
          </a:p>
        </p:txBody>
      </p:sp>
      <p:sp>
        <p:nvSpPr>
          <p:cNvPr id="21" name="Shape 19"/>
          <p:cNvSpPr/>
          <p:nvPr/>
        </p:nvSpPr>
        <p:spPr>
          <a:xfrm>
            <a:off x="9525000" y="6603578"/>
            <a:ext cx="7810500" cy="9525"/>
          </a:xfrm>
          <a:prstGeom prst="rect">
            <a:avLst/>
          </a:prstGeom>
          <a:solidFill>
            <a:srgbClr val="2A3344"/>
          </a:solidFill>
          <a:ln/>
        </p:spPr>
      </p:sp>
      <p:sp>
        <p:nvSpPr>
          <p:cNvPr id="22" name="Text 20"/>
          <p:cNvSpPr/>
          <p:nvPr/>
        </p:nvSpPr>
        <p:spPr>
          <a:xfrm>
            <a:off x="9525000" y="6917903"/>
            <a:ext cx="838200" cy="2952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E8B04B"/>
                </a:solidFill>
                <a:latin typeface="Courier New" pitchFamily="34" charset="0"/>
                <a:ea typeface="Courier New" pitchFamily="34" charset="-122"/>
                <a:cs typeface="Courier New" pitchFamily="34" charset="-120"/>
              </a:rPr>
              <a:t>VI.</a:t>
            </a:r>
            <a:endParaRPr lang="en-US" sz="1800" dirty="0"/>
          </a:p>
        </p:txBody>
      </p:sp>
      <p:sp>
        <p:nvSpPr>
          <p:cNvPr id="23" name="Text 21"/>
          <p:cNvSpPr/>
          <p:nvPr/>
        </p:nvSpPr>
        <p:spPr>
          <a:xfrm>
            <a:off x="10515600" y="6822653"/>
            <a:ext cx="7024497" cy="792361"/>
          </a:xfrm>
          <a:prstGeom prst="rect">
            <a:avLst/>
          </a:prstGeom>
          <a:noFill/>
          <a:ln/>
        </p:spPr>
        <p:txBody>
          <a:bodyPr wrap="square" lIns="25400" tIns="25400" rIns="25400" bIns="25400" rtlCol="0" anchor="t">
            <a:normAutofit/>
          </a:bodyPr>
          <a:lstStyle/>
          <a:p>
            <a:pPr algn="l" indent="0" marL="0">
              <a:lnSpc>
                <a:spcPct val="132000"/>
              </a:lnSpc>
              <a:buNone/>
            </a:pPr>
            <a:r>
              <a:rPr lang="en-US" sz="2250" dirty="0">
                <a:solidFill>
                  <a:srgbClr val="E8E4D8"/>
                </a:solidFill>
                <a:latin typeface="Georgia" pitchFamily="34" charset="0"/>
                <a:ea typeface="Georgia" pitchFamily="34" charset="-122"/>
                <a:cs typeface="Georgia" pitchFamily="34" charset="-120"/>
              </a:rPr>
              <a:t>Rulepacks are open. </a:t>
            </a:r>
            <a:pPr algn="l" indent="0" marL="0">
              <a:lnSpc>
                <a:spcPct val="132000"/>
              </a:lnSpc>
              <a:buNone/>
            </a:pPr>
            <a:r>
              <a:rPr lang="en-US" sz="2250" dirty="0">
                <a:solidFill>
                  <a:srgbClr val="A8A394"/>
                </a:solidFill>
                <a:latin typeface="Georgia" pitchFamily="34" charset="0"/>
                <a:ea typeface="Georgia" pitchFamily="34" charset="-122"/>
                <a:cs typeface="Georgia" pitchFamily="34" charset="-120"/>
              </a:rPr>
              <a:t>The rules of a public system should be readable by the public.</a:t>
            </a:r>
            <a:endParaRPr lang="en-US" sz="2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15 / 16</a:t>
            </a:r>
            <a:endParaRPr lang="en-US" sz="1800" dirty="0"/>
          </a:p>
        </p:txBody>
      </p:sp>
      <p:sp>
        <p:nvSpPr>
          <p:cNvPr id="4" name="Text 2"/>
          <p:cNvSpPr/>
          <p:nvPr/>
        </p:nvSpPr>
        <p:spPr>
          <a:xfrm>
            <a:off x="952500" y="1714500"/>
            <a:ext cx="16874490"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B04B"/>
                </a:solidFill>
                <a:latin typeface="Courier New" pitchFamily="34" charset="0"/>
                <a:ea typeface="Courier New" pitchFamily="34" charset="-122"/>
                <a:cs typeface="Courier New" pitchFamily="34" charset="-120"/>
              </a:rPr>
              <a:t>ROADMAP</a:t>
            </a:r>
            <a:endParaRPr lang="en-US" sz="1800" dirty="0"/>
          </a:p>
        </p:txBody>
      </p:sp>
      <p:sp>
        <p:nvSpPr>
          <p:cNvPr id="5" name="Text 3"/>
          <p:cNvSpPr/>
          <p:nvPr/>
        </p:nvSpPr>
        <p:spPr>
          <a:xfrm>
            <a:off x="952500" y="2238375"/>
            <a:ext cx="16874490" cy="975494"/>
          </a:xfrm>
          <a:prstGeom prst="rect">
            <a:avLst/>
          </a:prstGeom>
          <a:noFill/>
          <a:ln/>
        </p:spPr>
        <p:txBody>
          <a:bodyPr wrap="square" lIns="25400" tIns="25400" rIns="25400" bIns="25400" rtlCol="0" anchor="t">
            <a:normAutofit/>
          </a:bodyPr>
          <a:lstStyle/>
          <a:p>
            <a:pPr algn="l" indent="0" marL="0">
              <a:lnSpc>
                <a:spcPct val="102000"/>
              </a:lnSpc>
              <a:buNone/>
            </a:pPr>
            <a:r>
              <a:rPr lang="en-US" sz="7200" spc="-86" kern="0" dirty="0">
                <a:solidFill>
                  <a:srgbClr val="E8E4D8"/>
                </a:solidFill>
                <a:latin typeface="Georgia" pitchFamily="34" charset="0"/>
                <a:ea typeface="Georgia" pitchFamily="34" charset="-122"/>
                <a:cs typeface="Georgia" pitchFamily="34" charset="-120"/>
              </a:rPr>
              <a:t>Where we </a:t>
            </a:r>
            <a:pPr algn="l" indent="0" marL="0">
              <a:lnSpc>
                <a:spcPct val="102000"/>
              </a:lnSpc>
              <a:buNone/>
            </a:pPr>
            <a:r>
              <a:rPr lang="en-US" sz="7200" i="1" spc="-86" kern="0" dirty="0">
                <a:solidFill>
                  <a:srgbClr val="E8B04B"/>
                </a:solidFill>
                <a:latin typeface="Georgia" pitchFamily="34" charset="0"/>
                <a:ea typeface="Georgia" pitchFamily="34" charset="-122"/>
                <a:cs typeface="Georgia" pitchFamily="34" charset="-120"/>
              </a:rPr>
              <a:t>go next.</a:t>
            </a:r>
            <a:endParaRPr lang="en-US" sz="7200" dirty="0"/>
          </a:p>
        </p:txBody>
      </p:sp>
      <p:sp>
        <p:nvSpPr>
          <p:cNvPr id="6" name="Text 4"/>
          <p:cNvSpPr/>
          <p:nvPr/>
        </p:nvSpPr>
        <p:spPr>
          <a:xfrm>
            <a:off x="952500" y="3709169"/>
            <a:ext cx="5206212"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NOW · THREE PILOTS</a:t>
            </a:r>
            <a:endParaRPr lang="en-US" sz="1800" dirty="0"/>
          </a:p>
        </p:txBody>
      </p:sp>
      <p:sp>
        <p:nvSpPr>
          <p:cNvPr id="7" name="Text 5"/>
          <p:cNvSpPr/>
          <p:nvPr/>
        </p:nvSpPr>
        <p:spPr>
          <a:xfrm>
            <a:off x="952500" y="4156844"/>
            <a:ext cx="5206212" cy="988963"/>
          </a:xfrm>
          <a:prstGeom prst="rect">
            <a:avLst/>
          </a:prstGeom>
          <a:noFill/>
          <a:ln/>
        </p:spPr>
        <p:txBody>
          <a:bodyPr wrap="square" lIns="25400" tIns="25400" rIns="25400" bIns="25400" rtlCol="0" anchor="t">
            <a:normAutofit/>
          </a:bodyPr>
          <a:lstStyle/>
          <a:p>
            <a:pPr algn="l" indent="0" marL="0">
              <a:lnSpc>
                <a:spcPct val="104000"/>
              </a:lnSpc>
              <a:buNone/>
            </a:pPr>
            <a:r>
              <a:rPr lang="en-US" sz="3600" i="1" dirty="0">
                <a:solidFill>
                  <a:srgbClr val="E8E4D8"/>
                </a:solidFill>
                <a:latin typeface="Georgia" pitchFamily="34" charset="0"/>
                <a:ea typeface="Georgia" pitchFamily="34" charset="-122"/>
                <a:cs typeface="Georgia" pitchFamily="34" charset="-120"/>
              </a:rPr>
              <a:t>A city DMV, a county court, a regional hospital.</a:t>
            </a:r>
            <a:endParaRPr lang="en-US" sz="3600" dirty="0"/>
          </a:p>
        </p:txBody>
      </p:sp>
      <p:sp>
        <p:nvSpPr>
          <p:cNvPr id="8" name="Text 6"/>
          <p:cNvSpPr/>
          <p:nvPr/>
        </p:nvSpPr>
        <p:spPr>
          <a:xfrm>
            <a:off x="952500" y="5298207"/>
            <a:ext cx="5206212"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A8A394"/>
                </a:solidFill>
                <a:latin typeface="-apple-system" pitchFamily="34" charset="0"/>
                <a:ea typeface="-apple-system" pitchFamily="34" charset="-122"/>
                <a:cs typeface="-apple-system" pitchFamily="34" charset="-120"/>
              </a:rPr>
              <a:t>Live deployments against real queues, real filings, real consents. We harden the platform against the institutions hardest to move.</a:t>
            </a:r>
            <a:endParaRPr lang="en-US" sz="1950" dirty="0"/>
          </a:p>
        </p:txBody>
      </p:sp>
      <p:sp>
        <p:nvSpPr>
          <p:cNvPr id="9" name="Text 7"/>
          <p:cNvSpPr/>
          <p:nvPr/>
        </p:nvSpPr>
        <p:spPr>
          <a:xfrm>
            <a:off x="6616675" y="3709169"/>
            <a:ext cx="5206212"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NEXT · PLATFORM &amp; RULEPACKS</a:t>
            </a:r>
            <a:endParaRPr lang="en-US" sz="1800" dirty="0"/>
          </a:p>
        </p:txBody>
      </p:sp>
      <p:sp>
        <p:nvSpPr>
          <p:cNvPr id="10" name="Text 8"/>
          <p:cNvSpPr/>
          <p:nvPr/>
        </p:nvSpPr>
        <p:spPr>
          <a:xfrm>
            <a:off x="6616675" y="4156844"/>
            <a:ext cx="5206212" cy="513531"/>
          </a:xfrm>
          <a:prstGeom prst="rect">
            <a:avLst/>
          </a:prstGeom>
          <a:noFill/>
          <a:ln/>
        </p:spPr>
        <p:txBody>
          <a:bodyPr wrap="square" lIns="25400" tIns="25400" rIns="25400" bIns="25400" rtlCol="0" anchor="t">
            <a:normAutofit/>
          </a:bodyPr>
          <a:lstStyle/>
          <a:p>
            <a:pPr algn="l" indent="0" marL="0">
              <a:lnSpc>
                <a:spcPct val="104000"/>
              </a:lnSpc>
              <a:buNone/>
            </a:pPr>
            <a:r>
              <a:rPr lang="en-US" sz="3600" i="1" dirty="0">
                <a:solidFill>
                  <a:srgbClr val="E8E4D8"/>
                </a:solidFill>
                <a:latin typeface="Georgia" pitchFamily="34" charset="0"/>
                <a:ea typeface="Georgia" pitchFamily="34" charset="-122"/>
                <a:cs typeface="Georgia" pitchFamily="34" charset="-120"/>
              </a:rPr>
              <a:t>Open the first five rulepacks.</a:t>
            </a:r>
            <a:endParaRPr lang="en-US" sz="3600" dirty="0"/>
          </a:p>
        </p:txBody>
      </p:sp>
      <p:sp>
        <p:nvSpPr>
          <p:cNvPr id="11" name="Text 9"/>
          <p:cNvSpPr/>
          <p:nvPr/>
        </p:nvSpPr>
        <p:spPr>
          <a:xfrm>
            <a:off x="6616675" y="4822775"/>
            <a:ext cx="5206212" cy="1474291"/>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A8A394"/>
                </a:solidFill>
                <a:latin typeface="-apple-system" pitchFamily="34" charset="0"/>
                <a:ea typeface="-apple-system" pitchFamily="34" charset="-122"/>
                <a:cs typeface="-apple-system" pitchFamily="34" charset="-120"/>
              </a:rPr>
              <a:t>Publish the domain rules as auditable open standards. Make the system forkable, reviewable, and cheap for another municipality to adopt.</a:t>
            </a:r>
            <a:endParaRPr lang="en-US" sz="1950" dirty="0"/>
          </a:p>
        </p:txBody>
      </p:sp>
      <p:sp>
        <p:nvSpPr>
          <p:cNvPr id="12" name="Text 10"/>
          <p:cNvSpPr/>
          <p:nvPr/>
        </p:nvSpPr>
        <p:spPr>
          <a:xfrm>
            <a:off x="12280850" y="3709169"/>
            <a:ext cx="5206289" cy="2952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E8B04B"/>
                </a:solidFill>
                <a:latin typeface="Courier New" pitchFamily="34" charset="0"/>
                <a:ea typeface="Courier New" pitchFamily="34" charset="-122"/>
                <a:cs typeface="Courier New" pitchFamily="34" charset="-120"/>
              </a:rPr>
              <a:t>LATER · THE FULL MAP</a:t>
            </a:r>
            <a:endParaRPr lang="en-US" sz="1800" dirty="0"/>
          </a:p>
        </p:txBody>
      </p:sp>
      <p:sp>
        <p:nvSpPr>
          <p:cNvPr id="13" name="Text 11"/>
          <p:cNvSpPr/>
          <p:nvPr/>
        </p:nvSpPr>
        <p:spPr>
          <a:xfrm>
            <a:off x="12280850" y="4156844"/>
            <a:ext cx="5206289" cy="988963"/>
          </a:xfrm>
          <a:prstGeom prst="rect">
            <a:avLst/>
          </a:prstGeom>
          <a:noFill/>
          <a:ln/>
        </p:spPr>
        <p:txBody>
          <a:bodyPr wrap="square" lIns="25400" tIns="25400" rIns="25400" bIns="25400" rtlCol="0" anchor="t">
            <a:normAutofit/>
          </a:bodyPr>
          <a:lstStyle/>
          <a:p>
            <a:pPr algn="l" indent="0" marL="0">
              <a:lnSpc>
                <a:spcPct val="104000"/>
              </a:lnSpc>
              <a:buNone/>
            </a:pPr>
            <a:r>
              <a:rPr lang="en-US" sz="3600" i="1" dirty="0">
                <a:solidFill>
                  <a:srgbClr val="E8E4D8"/>
                </a:solidFill>
                <a:latin typeface="Georgia" pitchFamily="34" charset="0"/>
                <a:ea typeface="Georgia" pitchFamily="34" charset="-122"/>
                <a:cs typeface="Georgia" pitchFamily="34" charset="-120"/>
              </a:rPr>
              <a:t>Onboard every domain that meets a citizen.</a:t>
            </a:r>
            <a:endParaRPr lang="en-US" sz="3600" dirty="0"/>
          </a:p>
        </p:txBody>
      </p:sp>
      <p:sp>
        <p:nvSpPr>
          <p:cNvPr id="14" name="Text 12"/>
          <p:cNvSpPr/>
          <p:nvPr/>
        </p:nvSpPr>
        <p:spPr>
          <a:xfrm>
            <a:off x="12280850" y="5298207"/>
            <a:ext cx="5206289"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A8A394"/>
                </a:solidFill>
                <a:latin typeface="-apple-system" pitchFamily="34" charset="0"/>
                <a:ea typeface="-apple-system" pitchFamily="34" charset="-122"/>
                <a:cs typeface="-apple-system" pitchFamily="34" charset="-120"/>
              </a:rPr>
              <a:t>Twenty-seven and counting. The goal is boring and serious: make bureaucracy legible for everyone, everywhere.</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520"/>
        </a:solidFill>
      </p:bgPr>
    </p:bg>
    <p:spTree>
      <p:nvGrpSpPr>
        <p:cNvPr id="1" name=""/>
        <p:cNvGrpSpPr/>
        <p:nvPr/>
      </p:nvGrpSpPr>
      <p:grpSpPr>
        <a:xfrm>
          <a:off x="0" y="0"/>
          <a:ext cx="0" cy="0"/>
          <a:chOff x="0" y="0"/>
          <a:chExt cx="0" cy="0"/>
        </a:xfrm>
      </p:grpSpPr>
      <p:sp>
        <p:nvSpPr>
          <p:cNvPr id="2" name="Text 0"/>
          <p:cNvSpPr/>
          <p:nvPr/>
        </p:nvSpPr>
        <p:spPr>
          <a:xfrm>
            <a:off x="952500" y="419100"/>
            <a:ext cx="109135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A394"/>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t>
            </a:r>
            <a:endParaRPr lang="en-US" sz="1800" dirty="0"/>
          </a:p>
        </p:txBody>
      </p:sp>
      <p:sp>
        <p:nvSpPr>
          <p:cNvPr id="3" name="Text 1"/>
          <p:cNvSpPr/>
          <p:nvPr/>
        </p:nvSpPr>
        <p:spPr>
          <a:xfrm>
            <a:off x="16151126" y="419100"/>
            <a:ext cx="1260574"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16 / 16</a:t>
            </a:r>
            <a:endParaRPr lang="en-US" sz="1800" dirty="0"/>
          </a:p>
        </p:txBody>
      </p:sp>
      <p:sp>
        <p:nvSpPr>
          <p:cNvPr id="4" name="Text 2"/>
          <p:cNvSpPr/>
          <p:nvPr/>
        </p:nvSpPr>
        <p:spPr>
          <a:xfrm>
            <a:off x="952500" y="1714500"/>
            <a:ext cx="16874490" cy="2952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B04B"/>
                </a:solidFill>
                <a:latin typeface="Courier New" pitchFamily="34" charset="0"/>
                <a:ea typeface="Courier New" pitchFamily="34" charset="-122"/>
                <a:cs typeface="Courier New" pitchFamily="34" charset="-120"/>
              </a:rPr>
              <a:t>THE ASK</a:t>
            </a:r>
            <a:endParaRPr lang="en-US" sz="1800" dirty="0"/>
          </a:p>
        </p:txBody>
      </p:sp>
      <p:sp>
        <p:nvSpPr>
          <p:cNvPr id="5" name="Text 3"/>
          <p:cNvSpPr/>
          <p:nvPr/>
        </p:nvSpPr>
        <p:spPr>
          <a:xfrm>
            <a:off x="952500" y="2238375"/>
            <a:ext cx="16874490" cy="970731"/>
          </a:xfrm>
          <a:prstGeom prst="rect">
            <a:avLst/>
          </a:prstGeom>
          <a:noFill/>
          <a:ln/>
        </p:spPr>
        <p:txBody>
          <a:bodyPr wrap="square" lIns="25400" tIns="25400" rIns="25400" bIns="25400" rtlCol="0" anchor="t">
            <a:normAutofit/>
          </a:bodyPr>
          <a:lstStyle/>
          <a:p>
            <a:pPr algn="l" indent="0" marL="0">
              <a:lnSpc>
                <a:spcPct val="102000"/>
              </a:lnSpc>
              <a:buNone/>
            </a:pPr>
            <a:r>
              <a:rPr lang="en-US" sz="7200" spc="-86" kern="0" dirty="0">
                <a:solidFill>
                  <a:srgbClr val="E8E4D8"/>
                </a:solidFill>
                <a:latin typeface="Georgia" pitchFamily="34" charset="0"/>
                <a:ea typeface="Georgia" pitchFamily="34" charset="-122"/>
                <a:cs typeface="Georgia" pitchFamily="34" charset="-120"/>
              </a:rPr>
              <a:t>Three things.</a:t>
            </a:r>
            <a:endParaRPr lang="en-US" sz="7200" dirty="0"/>
          </a:p>
        </p:txBody>
      </p:sp>
      <p:sp>
        <p:nvSpPr>
          <p:cNvPr id="6" name="Text 4"/>
          <p:cNvSpPr/>
          <p:nvPr/>
        </p:nvSpPr>
        <p:spPr>
          <a:xfrm>
            <a:off x="952500" y="3437706"/>
            <a:ext cx="13735050" cy="1060698"/>
          </a:xfrm>
          <a:prstGeom prst="rect">
            <a:avLst/>
          </a:prstGeom>
          <a:noFill/>
          <a:ln/>
        </p:spPr>
        <p:txBody>
          <a:bodyPr wrap="square" lIns="25400" tIns="25400" rIns="25400" bIns="25400" rtlCol="0" anchor="t">
            <a:normAutofit/>
          </a:bodyPr>
          <a:lstStyle/>
          <a:p>
            <a:pPr algn="l" indent="0" marL="0">
              <a:lnSpc>
                <a:spcPct val="122000"/>
              </a:lnSpc>
              <a:buNone/>
            </a:pPr>
            <a:r>
              <a:rPr lang="en-US" sz="3300" dirty="0">
                <a:solidFill>
                  <a:srgbClr val="A8A394"/>
                </a:solidFill>
                <a:latin typeface="Georgia" pitchFamily="34" charset="0"/>
                <a:ea typeface="Georgia" pitchFamily="34" charset="-122"/>
                <a:cs typeface="Georgia" pitchFamily="34" charset="-120"/>
              </a:rPr>
              <a:t>The point of a public service is to serve the public. If you believe that, come find us.</a:t>
            </a:r>
            <a:endParaRPr lang="en-US" sz="3300" dirty="0"/>
          </a:p>
        </p:txBody>
      </p:sp>
      <p:sp>
        <p:nvSpPr>
          <p:cNvPr id="7" name="Shape 5"/>
          <p:cNvSpPr/>
          <p:nvPr/>
        </p:nvSpPr>
        <p:spPr>
          <a:xfrm>
            <a:off x="952500" y="5069904"/>
            <a:ext cx="5054575" cy="19050"/>
          </a:xfrm>
          <a:prstGeom prst="rect">
            <a:avLst/>
          </a:prstGeom>
          <a:solidFill>
            <a:srgbClr val="E8B04B"/>
          </a:solidFill>
          <a:ln/>
        </p:spPr>
      </p:sp>
      <p:sp>
        <p:nvSpPr>
          <p:cNvPr id="8" name="Text 6"/>
          <p:cNvSpPr/>
          <p:nvPr/>
        </p:nvSpPr>
        <p:spPr>
          <a:xfrm>
            <a:off x="952500" y="5393754"/>
            <a:ext cx="5206212" cy="834330"/>
          </a:xfrm>
          <a:prstGeom prst="rect">
            <a:avLst/>
          </a:prstGeom>
          <a:noFill/>
          <a:ln/>
        </p:spPr>
        <p:txBody>
          <a:bodyPr wrap="square" lIns="25400" tIns="25400" rIns="25400" bIns="25400" rtlCol="0" anchor="t">
            <a:normAutofit/>
          </a:bodyPr>
          <a:lstStyle/>
          <a:p>
            <a:pPr algn="l" indent="0" marL="0">
              <a:lnSpc>
                <a:spcPct val="95000"/>
              </a:lnSpc>
              <a:buNone/>
            </a:pPr>
            <a:r>
              <a:rPr lang="en-US" sz="6600" i="1" dirty="0">
                <a:solidFill>
                  <a:srgbClr val="E8E4D8"/>
                </a:solidFill>
                <a:latin typeface="Georgia" pitchFamily="34" charset="0"/>
                <a:ea typeface="Georgia" pitchFamily="34" charset="-122"/>
                <a:cs typeface="Georgia" pitchFamily="34" charset="-120"/>
              </a:rPr>
              <a:t>Pilots.</a:t>
            </a:r>
            <a:endParaRPr lang="en-US" sz="6600" dirty="0"/>
          </a:p>
        </p:txBody>
      </p:sp>
      <p:sp>
        <p:nvSpPr>
          <p:cNvPr id="9" name="Text 7"/>
          <p:cNvSpPr/>
          <p:nvPr/>
        </p:nvSpPr>
        <p:spPr>
          <a:xfrm>
            <a:off x="952500" y="6380485"/>
            <a:ext cx="5206212" cy="1198066"/>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A8A394"/>
                </a:solidFill>
                <a:latin typeface="-apple-system" pitchFamily="34" charset="0"/>
                <a:ea typeface="-apple-system" pitchFamily="34" charset="-122"/>
                <a:cs typeface="-apple-system" pitchFamily="34" charset="-120"/>
              </a:rPr>
              <a:t>Agencies and institutions willing to run a real deployment — courts, clinics, housing authorities, DMVs.</a:t>
            </a:r>
            <a:endParaRPr lang="en-US" sz="2100" dirty="0"/>
          </a:p>
        </p:txBody>
      </p:sp>
      <p:sp>
        <p:nvSpPr>
          <p:cNvPr id="10" name="Shape 8"/>
          <p:cNvSpPr/>
          <p:nvPr/>
        </p:nvSpPr>
        <p:spPr>
          <a:xfrm>
            <a:off x="6616675" y="5069904"/>
            <a:ext cx="5054575" cy="19050"/>
          </a:xfrm>
          <a:prstGeom prst="rect">
            <a:avLst/>
          </a:prstGeom>
          <a:solidFill>
            <a:srgbClr val="E8B04B"/>
          </a:solidFill>
          <a:ln/>
        </p:spPr>
      </p:sp>
      <p:sp>
        <p:nvSpPr>
          <p:cNvPr id="11" name="Text 9"/>
          <p:cNvSpPr/>
          <p:nvPr/>
        </p:nvSpPr>
        <p:spPr>
          <a:xfrm>
            <a:off x="6616675" y="5393754"/>
            <a:ext cx="5206212" cy="834330"/>
          </a:xfrm>
          <a:prstGeom prst="rect">
            <a:avLst/>
          </a:prstGeom>
          <a:noFill/>
          <a:ln/>
        </p:spPr>
        <p:txBody>
          <a:bodyPr wrap="square" lIns="25400" tIns="25400" rIns="25400" bIns="25400" rtlCol="0" anchor="t">
            <a:normAutofit/>
          </a:bodyPr>
          <a:lstStyle/>
          <a:p>
            <a:pPr algn="l" indent="0" marL="0">
              <a:lnSpc>
                <a:spcPct val="95000"/>
              </a:lnSpc>
              <a:buNone/>
            </a:pPr>
            <a:r>
              <a:rPr lang="en-US" sz="6600" i="1" dirty="0">
                <a:solidFill>
                  <a:srgbClr val="E8E4D8"/>
                </a:solidFill>
                <a:latin typeface="Georgia" pitchFamily="34" charset="0"/>
                <a:ea typeface="Georgia" pitchFamily="34" charset="-122"/>
                <a:cs typeface="Georgia" pitchFamily="34" charset="-120"/>
              </a:rPr>
              <a:t>Funding.</a:t>
            </a:r>
            <a:endParaRPr lang="en-US" sz="6600" dirty="0"/>
          </a:p>
        </p:txBody>
      </p:sp>
      <p:sp>
        <p:nvSpPr>
          <p:cNvPr id="12" name="Text 10"/>
          <p:cNvSpPr/>
          <p:nvPr/>
        </p:nvSpPr>
        <p:spPr>
          <a:xfrm>
            <a:off x="6616675" y="6380485"/>
            <a:ext cx="5206212" cy="1198066"/>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A8A394"/>
                </a:solidFill>
                <a:latin typeface="-apple-system" pitchFamily="34" charset="0"/>
                <a:ea typeface="-apple-system" pitchFamily="34" charset="-122"/>
                <a:cs typeface="-apple-system" pitchFamily="34" charset="-120"/>
              </a:rPr>
              <a:t>To build out the platform and ship the first five open rulepacks over the next eighteen months.</a:t>
            </a:r>
            <a:endParaRPr lang="en-US" sz="2100" dirty="0"/>
          </a:p>
        </p:txBody>
      </p:sp>
      <p:sp>
        <p:nvSpPr>
          <p:cNvPr id="13" name="Shape 11"/>
          <p:cNvSpPr/>
          <p:nvPr/>
        </p:nvSpPr>
        <p:spPr>
          <a:xfrm>
            <a:off x="12280850" y="5069904"/>
            <a:ext cx="5054650" cy="19050"/>
          </a:xfrm>
          <a:prstGeom prst="rect">
            <a:avLst/>
          </a:prstGeom>
          <a:solidFill>
            <a:srgbClr val="E8B04B"/>
          </a:solidFill>
          <a:ln/>
        </p:spPr>
      </p:sp>
      <p:sp>
        <p:nvSpPr>
          <p:cNvPr id="14" name="Text 12"/>
          <p:cNvSpPr/>
          <p:nvPr/>
        </p:nvSpPr>
        <p:spPr>
          <a:xfrm>
            <a:off x="12280850" y="5393754"/>
            <a:ext cx="5206289" cy="834330"/>
          </a:xfrm>
          <a:prstGeom prst="rect">
            <a:avLst/>
          </a:prstGeom>
          <a:noFill/>
          <a:ln/>
        </p:spPr>
        <p:txBody>
          <a:bodyPr wrap="square" lIns="25400" tIns="25400" rIns="25400" bIns="25400" rtlCol="0" anchor="t">
            <a:normAutofit/>
          </a:bodyPr>
          <a:lstStyle/>
          <a:p>
            <a:pPr algn="l" indent="0" marL="0">
              <a:lnSpc>
                <a:spcPct val="95000"/>
              </a:lnSpc>
              <a:buNone/>
            </a:pPr>
            <a:r>
              <a:rPr lang="en-US" sz="6600" i="1" dirty="0">
                <a:solidFill>
                  <a:srgbClr val="E8E4D8"/>
                </a:solidFill>
                <a:latin typeface="Georgia" pitchFamily="34" charset="0"/>
                <a:ea typeface="Georgia" pitchFamily="34" charset="-122"/>
                <a:cs typeface="Georgia" pitchFamily="34" charset="-120"/>
              </a:rPr>
              <a:t>Advocates.</a:t>
            </a:r>
            <a:endParaRPr lang="en-US" sz="6600" dirty="0"/>
          </a:p>
        </p:txBody>
      </p:sp>
      <p:sp>
        <p:nvSpPr>
          <p:cNvPr id="15" name="Text 13"/>
          <p:cNvSpPr/>
          <p:nvPr/>
        </p:nvSpPr>
        <p:spPr>
          <a:xfrm>
            <a:off x="12280850" y="6380485"/>
            <a:ext cx="5206289" cy="1198066"/>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A8A394"/>
                </a:solidFill>
                <a:latin typeface="-apple-system" pitchFamily="34" charset="0"/>
                <a:ea typeface="-apple-system" pitchFamily="34" charset="-122"/>
                <a:cs typeface="-apple-system" pitchFamily="34" charset="-120"/>
              </a:rPr>
              <a:t>People inside institutions who believe a public service exists to serve the public. We need you.</a:t>
            </a:r>
            <a:endParaRPr lang="en-US" sz="2100" dirty="0"/>
          </a:p>
        </p:txBody>
      </p:sp>
      <p:sp>
        <p:nvSpPr>
          <p:cNvPr id="16" name="Text 14"/>
          <p:cNvSpPr/>
          <p:nvPr/>
        </p:nvSpPr>
        <p:spPr>
          <a:xfrm>
            <a:off x="952500" y="8302451"/>
            <a:ext cx="7144755"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E8B04B"/>
                </a:solidFill>
                <a:latin typeface="Courier New" pitchFamily="34" charset="0"/>
                <a:ea typeface="Courier New" pitchFamily="34" charset="-122"/>
                <a:cs typeface="Courier New" pitchFamily="34" charset="-120"/>
              </a:rPr>
              <a:t>OMBUD</a:t>
            </a:r>
            <a:pPr algn="l" indent="0" marL="0">
              <a:buNone/>
            </a:pPr>
            <a:r>
              <a:rPr lang="en-US" sz="1800" spc="252" kern="0" dirty="0">
                <a:solidFill>
                  <a:srgbClr val="6A6656"/>
                </a:solidFill>
                <a:latin typeface="Courier New" pitchFamily="34" charset="0"/>
                <a:ea typeface="Courier New" pitchFamily="34" charset="-122"/>
                <a:cs typeface="Courier New" pitchFamily="34" charset="-120"/>
              </a:rPr>
              <a:t>·</a:t>
            </a:r>
            <a:pPr algn="l" indent="0" marL="0">
              <a:buNone/>
            </a:pPr>
            <a:r>
              <a:rPr lang="en-US" sz="1800" spc="252" kern="0" dirty="0">
                <a:solidFill>
                  <a:srgbClr val="E8B04B"/>
                </a:solidFill>
                <a:latin typeface="Courier New" pitchFamily="34" charset="0"/>
                <a:ea typeface="Courier New" pitchFamily="34" charset="-122"/>
                <a:cs typeface="Courier New" pitchFamily="34" charset="-120"/>
              </a:rPr>
              <a:t>A DIGITAL BUREAUCRATIC ADVOCATE</a:t>
            </a:r>
            <a:endParaRPr lang="en-US" sz="1800" dirty="0"/>
          </a:p>
        </p:txBody>
      </p:sp>
      <p:sp>
        <p:nvSpPr>
          <p:cNvPr id="17" name="Text 15"/>
          <p:cNvSpPr/>
          <p:nvPr/>
        </p:nvSpPr>
        <p:spPr>
          <a:xfrm>
            <a:off x="14797683" y="8302451"/>
            <a:ext cx="2614017" cy="2952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6656"/>
                </a:solidFill>
                <a:latin typeface="Courier New" pitchFamily="34" charset="0"/>
                <a:ea typeface="Courier New" pitchFamily="34" charset="-122"/>
                <a:cs typeface="Courier New" pitchFamily="34" charset="-120"/>
              </a:rPr>
              <a:t>HELLO@OMBUD.ORG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2026-04-18T02:58:26Z</dcterms:created>
  <dcterms:modified xsi:type="dcterms:W3CDTF">2026-04-18T02:58:26Z</dcterms:modified>
</cp:coreProperties>
</file>